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74" r:id="rId6"/>
    <p:sldId id="278" r:id="rId7"/>
    <p:sldId id="280" r:id="rId8"/>
    <p:sldId id="283" r:id="rId9"/>
    <p:sldId id="286" r:id="rId10"/>
    <p:sldId id="271" r:id="rId11"/>
    <p:sldId id="281" r:id="rId12"/>
    <p:sldId id="292" r:id="rId13"/>
    <p:sldId id="287" r:id="rId14"/>
    <p:sldId id="289" r:id="rId15"/>
    <p:sldId id="288" r:id="rId16"/>
    <p:sldId id="293" r:id="rId17"/>
    <p:sldId id="294" r:id="rId18"/>
    <p:sldId id="290" r:id="rId19"/>
    <p:sldId id="291" r:id="rId20"/>
    <p:sldId id="268" r:id="rId21"/>
    <p:sldId id="269" r:id="rId22"/>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44" autoAdjust="0"/>
    <p:restoredTop sz="94660"/>
  </p:normalViewPr>
  <p:slideViewPr>
    <p:cSldViewPr>
      <p:cViewPr>
        <p:scale>
          <a:sx n="75" d="100"/>
          <a:sy n="75" d="100"/>
        </p:scale>
        <p:origin x="1742" y="-24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06-04-2026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A07A5-14C6-E585-8655-9D9D52E50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451EA-1440-E913-BE4A-B614B423C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B861F-0E31-A9FE-3DE3-C88AA9FDC2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B3FD6E-6CD7-73E7-5843-F5D2AC9D0C79}"/>
              </a:ext>
            </a:extLst>
          </p:cNvPr>
          <p:cNvSpPr>
            <a:spLocks noGrp="1"/>
          </p:cNvSpPr>
          <p:nvPr>
            <p:ph type="sldNum" sz="quarter" idx="10"/>
          </p:nvPr>
        </p:nvSpPr>
        <p:spPr/>
        <p:txBody>
          <a:bodyPr/>
          <a:lstStyle/>
          <a:p>
            <a:fld id="{67E471F2-2083-493A-8C9E-53209FFA1EC8}" type="slidenum">
              <a:rPr lang="en-IN" smtClean="0"/>
              <a:t>7</a:t>
            </a:fld>
            <a:endParaRPr lang="en-IN"/>
          </a:p>
        </p:txBody>
      </p:sp>
    </p:spTree>
    <p:extLst>
      <p:ext uri="{BB962C8B-B14F-4D97-AF65-F5344CB8AC3E}">
        <p14:creationId xmlns:p14="http://schemas.microsoft.com/office/powerpoint/2010/main" val="3766118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6944-C75D-642A-33EC-861C4C9EE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92471-DA30-4B37-FCA6-6EF20124D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FE530-0FC2-EC25-4907-8124FE661A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3AE0AE-6066-70F2-58D0-DE497EDE96FC}"/>
              </a:ext>
            </a:extLst>
          </p:cNvPr>
          <p:cNvSpPr>
            <a:spLocks noGrp="1"/>
          </p:cNvSpPr>
          <p:nvPr>
            <p:ph type="sldNum" sz="quarter" idx="10"/>
          </p:nvPr>
        </p:nvSpPr>
        <p:spPr/>
        <p:txBody>
          <a:bodyPr/>
          <a:lstStyle/>
          <a:p>
            <a:fld id="{67E471F2-2083-493A-8C9E-53209FFA1EC8}" type="slidenum">
              <a:rPr lang="en-IN" smtClean="0"/>
              <a:t>8</a:t>
            </a:fld>
            <a:endParaRPr lang="en-IN"/>
          </a:p>
        </p:txBody>
      </p:sp>
    </p:spTree>
    <p:extLst>
      <p:ext uri="{BB962C8B-B14F-4D97-AF65-F5344CB8AC3E}">
        <p14:creationId xmlns:p14="http://schemas.microsoft.com/office/powerpoint/2010/main" val="3637059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139B1-A475-4CBB-3C79-9D26E5A86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C7ED2-D36F-F380-B914-E293551BC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91147-730F-8489-F314-EBBEE6FC15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461C2B-CF90-5661-FD6B-4743F3CA884B}"/>
              </a:ext>
            </a:extLst>
          </p:cNvPr>
          <p:cNvSpPr>
            <a:spLocks noGrp="1"/>
          </p:cNvSpPr>
          <p:nvPr>
            <p:ph type="sldNum" sz="quarter" idx="10"/>
          </p:nvPr>
        </p:nvSpPr>
        <p:spPr/>
        <p:txBody>
          <a:bodyPr/>
          <a:lstStyle/>
          <a:p>
            <a:fld id="{67E471F2-2083-493A-8C9E-53209FFA1EC8}" type="slidenum">
              <a:rPr lang="en-IN" smtClean="0"/>
              <a:t>9</a:t>
            </a:fld>
            <a:endParaRPr lang="en-IN"/>
          </a:p>
        </p:txBody>
      </p:sp>
    </p:spTree>
    <p:extLst>
      <p:ext uri="{BB962C8B-B14F-4D97-AF65-F5344CB8AC3E}">
        <p14:creationId xmlns:p14="http://schemas.microsoft.com/office/powerpoint/2010/main" val="1688220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t>10</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CE3C7-4CAC-83C5-06C3-42A79AAC3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8F73F-5430-C4C7-24B7-978CB7B2C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D4E0F-8063-6714-0B2B-C4C7BFB3BB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220EE7-BED2-805A-A166-2B514D3FD98E}"/>
              </a:ext>
            </a:extLst>
          </p:cNvPr>
          <p:cNvSpPr>
            <a:spLocks noGrp="1"/>
          </p:cNvSpPr>
          <p:nvPr>
            <p:ph type="sldNum" sz="quarter" idx="10"/>
          </p:nvPr>
        </p:nvSpPr>
        <p:spPr/>
        <p:txBody>
          <a:bodyPr/>
          <a:lstStyle/>
          <a:p>
            <a:fld id="{67E471F2-2083-493A-8C9E-53209FFA1EC8}" type="slidenum">
              <a:rPr lang="en-IN" smtClean="0"/>
              <a:t>11</a:t>
            </a:fld>
            <a:endParaRPr lang="en-IN"/>
          </a:p>
        </p:txBody>
      </p:sp>
    </p:spTree>
    <p:extLst>
      <p:ext uri="{BB962C8B-B14F-4D97-AF65-F5344CB8AC3E}">
        <p14:creationId xmlns:p14="http://schemas.microsoft.com/office/powerpoint/2010/main" val="340130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2922E-E924-5F2D-4D88-3A7A6AD964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F7E21C-5210-ADC9-DD87-957F3FCA5A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40E99E-3909-9171-AA66-539EFC2E38D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8654299-CF9C-EE94-8041-33B2A2779C48}"/>
              </a:ext>
            </a:extLst>
          </p:cNvPr>
          <p:cNvSpPr>
            <a:spLocks noGrp="1"/>
          </p:cNvSpPr>
          <p:nvPr>
            <p:ph type="sldNum" sz="quarter" idx="10"/>
          </p:nvPr>
        </p:nvSpPr>
        <p:spPr/>
        <p:txBody>
          <a:bodyPr/>
          <a:lstStyle/>
          <a:p>
            <a:fld id="{67E471F2-2083-493A-8C9E-53209FFA1EC8}" type="slidenum">
              <a:rPr lang="en-IN" smtClean="0"/>
              <a:t>12</a:t>
            </a:fld>
            <a:endParaRPr lang="en-IN"/>
          </a:p>
        </p:txBody>
      </p:sp>
    </p:spTree>
    <p:extLst>
      <p:ext uri="{BB962C8B-B14F-4D97-AF65-F5344CB8AC3E}">
        <p14:creationId xmlns:p14="http://schemas.microsoft.com/office/powerpoint/2010/main" val="23787196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565D4-DEED-8F77-7875-441F7EC65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0EE74-7167-873A-95DE-2209D38A4B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B17A6-C5DF-DF2F-3449-59AE0E1E52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2A6B2E7-A9E4-7C60-5E8B-7C360EA4C31A}"/>
              </a:ext>
            </a:extLst>
          </p:cNvPr>
          <p:cNvSpPr>
            <a:spLocks noGrp="1"/>
          </p:cNvSpPr>
          <p:nvPr>
            <p:ph type="sldNum" sz="quarter" idx="10"/>
          </p:nvPr>
        </p:nvSpPr>
        <p:spPr/>
        <p:txBody>
          <a:bodyPr/>
          <a:lstStyle/>
          <a:p>
            <a:fld id="{67E471F2-2083-493A-8C9E-53209FFA1EC8}" type="slidenum">
              <a:rPr lang="en-IN" smtClean="0"/>
              <a:t>13</a:t>
            </a:fld>
            <a:endParaRPr lang="en-IN"/>
          </a:p>
        </p:txBody>
      </p:sp>
    </p:spTree>
    <p:extLst>
      <p:ext uri="{BB962C8B-B14F-4D97-AF65-F5344CB8AC3E}">
        <p14:creationId xmlns:p14="http://schemas.microsoft.com/office/powerpoint/2010/main" val="11321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78334-1E7C-9B5D-22F4-8A0874D2C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A05E5-57D3-9020-E1E8-13EECF182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E5D61-29D8-36CA-3B49-ED30EB6DC9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6A6CBA9-998B-04E1-4DEE-A9C50489770F}"/>
              </a:ext>
            </a:extLst>
          </p:cNvPr>
          <p:cNvSpPr>
            <a:spLocks noGrp="1"/>
          </p:cNvSpPr>
          <p:nvPr>
            <p:ph type="sldNum" sz="quarter" idx="10"/>
          </p:nvPr>
        </p:nvSpPr>
        <p:spPr/>
        <p:txBody>
          <a:bodyPr/>
          <a:lstStyle/>
          <a:p>
            <a:fld id="{67E471F2-2083-493A-8C9E-53209FFA1EC8}" type="slidenum">
              <a:rPr lang="en-IN" smtClean="0"/>
              <a:t>14</a:t>
            </a:fld>
            <a:endParaRPr lang="en-IN"/>
          </a:p>
        </p:txBody>
      </p:sp>
    </p:spTree>
    <p:extLst>
      <p:ext uri="{BB962C8B-B14F-4D97-AF65-F5344CB8AC3E}">
        <p14:creationId xmlns:p14="http://schemas.microsoft.com/office/powerpoint/2010/main" val="3750698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0228F-58ED-A8A9-83F6-417BF9E8F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092AC-450B-ED20-CC0E-863B8D3FB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D67FF-E9BF-B02A-BB9A-F8D92EE15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48B14A-9DA2-06A7-BD4E-CC42A4DF4C5A}"/>
              </a:ext>
            </a:extLst>
          </p:cNvPr>
          <p:cNvSpPr>
            <a:spLocks noGrp="1"/>
          </p:cNvSpPr>
          <p:nvPr>
            <p:ph type="sldNum" sz="quarter" idx="10"/>
          </p:nvPr>
        </p:nvSpPr>
        <p:spPr/>
        <p:txBody>
          <a:bodyPr/>
          <a:lstStyle/>
          <a:p>
            <a:fld id="{67E471F2-2083-493A-8C9E-53209FFA1EC8}" type="slidenum">
              <a:rPr lang="en-IN" smtClean="0"/>
              <a:t>15</a:t>
            </a:fld>
            <a:endParaRPr lang="en-IN"/>
          </a:p>
        </p:txBody>
      </p:sp>
    </p:spTree>
    <p:extLst>
      <p:ext uri="{BB962C8B-B14F-4D97-AF65-F5344CB8AC3E}">
        <p14:creationId xmlns:p14="http://schemas.microsoft.com/office/powerpoint/2010/main" val="9187341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58E08-ABC5-A9BD-90C1-B7A26A92E7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B8708C-0EC0-44CA-3459-047731E890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ED7B86-7F04-4F28-5909-90309F853CC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2DB5FC8-9B4E-7D68-7B4A-4A013B36EE00}"/>
              </a:ext>
            </a:extLst>
          </p:cNvPr>
          <p:cNvSpPr>
            <a:spLocks noGrp="1"/>
          </p:cNvSpPr>
          <p:nvPr>
            <p:ph type="sldNum" sz="quarter" idx="10"/>
          </p:nvPr>
        </p:nvSpPr>
        <p:spPr/>
        <p:txBody>
          <a:bodyPr/>
          <a:lstStyle/>
          <a:p>
            <a:fld id="{67E471F2-2083-493A-8C9E-53209FFA1EC8}" type="slidenum">
              <a:rPr lang="en-IN" smtClean="0"/>
              <a:t>16</a:t>
            </a:fld>
            <a:endParaRPr lang="en-IN"/>
          </a:p>
        </p:txBody>
      </p:sp>
    </p:spTree>
    <p:extLst>
      <p:ext uri="{BB962C8B-B14F-4D97-AF65-F5344CB8AC3E}">
        <p14:creationId xmlns:p14="http://schemas.microsoft.com/office/powerpoint/2010/main" val="28788911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3568E-2987-5FD4-3F82-22592240C6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DF76AA-9CB4-AEF6-B98E-ADDAD148A7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BF3EB4-CACC-C018-0C53-2C94DB7A52F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1DA820C-5196-7CC7-BC74-6292E4B34CD3}"/>
              </a:ext>
            </a:extLst>
          </p:cNvPr>
          <p:cNvSpPr>
            <a:spLocks noGrp="1"/>
          </p:cNvSpPr>
          <p:nvPr>
            <p:ph type="sldNum" sz="quarter" idx="10"/>
          </p:nvPr>
        </p:nvSpPr>
        <p:spPr/>
        <p:txBody>
          <a:bodyPr/>
          <a:lstStyle/>
          <a:p>
            <a:fld id="{67E471F2-2083-493A-8C9E-53209FFA1EC8}" type="slidenum">
              <a:rPr lang="en-IN" smtClean="0"/>
              <a:t>17</a:t>
            </a:fld>
            <a:endParaRPr lang="en-IN"/>
          </a:p>
        </p:txBody>
      </p:sp>
    </p:spTree>
    <p:extLst>
      <p:ext uri="{BB962C8B-B14F-4D97-AF65-F5344CB8AC3E}">
        <p14:creationId xmlns:p14="http://schemas.microsoft.com/office/powerpoint/2010/main" val="1363827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8" Type="http://schemas.openxmlformats.org/officeDocument/2006/relationships/hyperlink" Target="https://stripe.com/docs/" TargetMode="External"/><Relationship Id="rId13" Type="http://schemas.openxmlformats.org/officeDocument/2006/relationships/image" Target="../media/image8.png"/><Relationship Id="rId3" Type="http://schemas.openxmlformats.org/officeDocument/2006/relationships/hyperlink" Target="https://react.dev/" TargetMode="External"/><Relationship Id="rId7" Type="http://schemas.openxmlformats.org/officeDocument/2006/relationships/hyperlink" Target="https://developer.mozilla.org/en-US/docs/Web/API/WebRTC_API" TargetMode="External"/><Relationship Id="rId12" Type="http://schemas.openxmlformats.org/officeDocument/2006/relationships/image" Target="../media/image2.png"/><Relationship Id="rId2" Type="http://schemas.openxmlformats.org/officeDocument/2006/relationships/hyperlink" Target="https://www.mongodb.com/docs/" TargetMode="External"/><Relationship Id="rId1" Type="http://schemas.openxmlformats.org/officeDocument/2006/relationships/slideLayout" Target="../slideLayouts/slideLayout2.xml"/><Relationship Id="rId6" Type="http://schemas.openxmlformats.org/officeDocument/2006/relationships/hyperlink" Target="https://socket.io/docs/" TargetMode="External"/><Relationship Id="rId11" Type="http://schemas.openxmlformats.org/officeDocument/2006/relationships/image" Target="../media/image7.png"/><Relationship Id="rId5" Type="http://schemas.openxmlformats.org/officeDocument/2006/relationships/hyperlink" Target="https://expressjs.com/" TargetMode="External"/><Relationship Id="rId10" Type="http://schemas.openxmlformats.org/officeDocument/2006/relationships/hyperlink" Target="https://www.w3schools.com/js/" TargetMode="External"/><Relationship Id="rId4" Type="http://schemas.openxmlformats.org/officeDocument/2006/relationships/hyperlink" Target="https://nodejs.org/en/docs/" TargetMode="External"/><Relationship Id="rId9" Type="http://schemas.openxmlformats.org/officeDocument/2006/relationships/hyperlink" Target="https://razorpay.com/docs/" TargetMode="External"/><Relationship Id="rId14" Type="http://schemas.openxmlformats.org/officeDocument/2006/relationships/image" Target="../media/image6.jp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AMSD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4089581"/>
          </a:xfrm>
          <a:prstGeom prst="rect">
            <a:avLst/>
          </a:prstGeom>
        </p:spPr>
        <p:txBody>
          <a:bodyPr vert="horz" wrap="square" lIns="0" tIns="16510" rIns="0" bIns="0" rtlCol="0">
            <a:spAutoFit/>
          </a:bodyPr>
          <a:lstStyle/>
          <a:p>
            <a:pPr algn="ctr">
              <a:lnSpc>
                <a:spcPct val="100000"/>
              </a:lnSpc>
              <a:spcBef>
                <a:spcPts val="130"/>
              </a:spcBef>
            </a:pPr>
            <a:r>
              <a:rPr lang="en-IN" sz="2400" dirty="0"/>
              <a:t>Faculty Leave Management System</a:t>
            </a:r>
          </a:p>
          <a:p>
            <a:pPr algn="ctr">
              <a:lnSpc>
                <a:spcPct val="100000"/>
              </a:lnSpc>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Darlington Chinokwetu(24B11CS538)</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K. Satheesh Kumar(24B11CS473)</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P. Prabhas(24B11CS338)</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Syam Prasad(25B21CS018)</a:t>
            </a: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a:t>
            </a:r>
            <a:r>
              <a:rPr lang="en-ZA" sz="2200" dirty="0">
                <a:solidFill>
                  <a:srgbClr val="943735"/>
                </a:solidFill>
                <a:latin typeface="Times New Roman" panose="02020603050405020304" pitchFamily="18" charset="0"/>
                <a:cs typeface="Times New Roman" panose="02020603050405020304" pitchFamily="18" charset="0"/>
              </a:rPr>
              <a:t>Computer Science and Engineering</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60408" y="1191211"/>
            <a:ext cx="3770980" cy="5495094"/>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Database Design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Design</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System Implementation</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Future Enhancements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References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723900" y="1185265"/>
            <a:ext cx="8610600" cy="6463308"/>
          </a:xfrm>
          <a:prstGeom prst="rect">
            <a:avLst/>
          </a:prstGeom>
          <a:noFill/>
        </p:spPr>
        <p:txBody>
          <a:bodyPr wrap="square" rtlCol="0">
            <a:spAutoFit/>
          </a:bodyPr>
          <a:lstStyle/>
          <a:p>
            <a:pPr marL="285750" indent="-285750">
              <a:buFont typeface="Arial" panose="020B0604020202020204" pitchFamily="34" charset="0"/>
              <a:buChar char="•"/>
            </a:pPr>
            <a:r>
              <a:rPr lang="en-US" sz="1800" dirty="0"/>
              <a:t>The </a:t>
            </a:r>
            <a:r>
              <a:rPr lang="en-US" sz="1800" b="1" dirty="0"/>
              <a:t>Faculty Leave Management System</a:t>
            </a:r>
            <a:r>
              <a:rPr lang="en-US" sz="1800" dirty="0"/>
              <a:t> is a full-stack, web-based application designed to streamline and automate the process of managing faculty leave requests in an educational institution. It replaces traditional manual methods with an efficient digital solution that enables faculty members to apply for leave, track approval status, and manage leave records in real time.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The system allows faculty to submit leave applications, view leave balances, and receive notifications regarding approvals or rejections. Administrators and department heads can review, approve, or reject requests, ensuring proper workflow and transparency.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Developed using the </a:t>
            </a:r>
            <a:r>
              <a:rPr lang="en-US" sz="1800" b="1" dirty="0"/>
              <a:t>MERN stack (MongoDB, Express.js, React, and Node.js)</a:t>
            </a:r>
            <a:r>
              <a:rPr lang="en-US" sz="1800" dirty="0"/>
              <a:t>, the application ensures efficient data management, fast processing, and a responsive user interface. It incorporates secure authentication using </a:t>
            </a:r>
            <a:r>
              <a:rPr lang="en-US" sz="1800" b="1" dirty="0"/>
              <a:t>JWT (JSON Web Token)</a:t>
            </a:r>
            <a:r>
              <a:rPr lang="en-US" sz="1800" dirty="0"/>
              <a:t> to protect user data and maintain system integrity.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Additionally, the system provides features such as leave history tracking, role-based access control, and automated record maintenance, reducing paperwork and administrative effort. With its scalable architecture and user-friendly design, the Faculty Leave Management System improves operational efficiency and provides a reliable, modern solution for managing faculty leave processes.</a:t>
            </a:r>
          </a:p>
          <a:p>
            <a:br>
              <a:rPr lang="en-US" sz="1800" dirty="0"/>
            </a:b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25851B59-AD5A-81AD-7D42-C1CD5E589B58}"/>
              </a:ext>
            </a:extLst>
          </p:cNvPr>
          <p:cNvSpPr txBox="1"/>
          <p:nvPr/>
        </p:nvSpPr>
        <p:spPr>
          <a:xfrm>
            <a:off x="723900" y="1437175"/>
            <a:ext cx="8610600" cy="5909310"/>
          </a:xfrm>
          <a:prstGeom prst="rect">
            <a:avLst/>
          </a:prstGeom>
          <a:noFill/>
        </p:spPr>
        <p:txBody>
          <a:bodyPr wrap="square" rtlCol="0">
            <a:spAutoFit/>
          </a:bodyPr>
          <a:lstStyle/>
          <a:p>
            <a:pPr marL="285750" indent="-285750">
              <a:buFont typeface="Arial" panose="020B0604020202020204" pitchFamily="34" charset="0"/>
              <a:buChar char="•"/>
            </a:pPr>
            <a:r>
              <a:rPr lang="en-US" sz="1800" dirty="0"/>
              <a:t>The Faculty Leave Management System (FLMS)</a:t>
            </a:r>
            <a:r>
              <a:rPr lang="en-US" sz="1800" b="1" dirty="0"/>
              <a:t> is </a:t>
            </a:r>
            <a:r>
              <a:rPr lang="en-US" sz="1800" dirty="0"/>
              <a:t>a full-stack, web-based application developed to simplify and automate the process of managing leave requests within an educational institution. It provides a centralized platform where faculty members can apply for leave, view their leave status, and maintain leave records efficiently.</a:t>
            </a:r>
          </a:p>
          <a:p>
            <a:pPr marL="285750" indent="-285750">
              <a:buFont typeface="Arial" panose="020B0604020202020204" pitchFamily="34" charset="0"/>
              <a:buChar char="•"/>
            </a:pPr>
            <a:r>
              <a:rPr lang="en-US" sz="1800" dirty="0"/>
              <a:t> The system enables administrators and department heads to review, approve, or reject leave applications in a structured and transparent manner. </a:t>
            </a:r>
          </a:p>
          <a:p>
            <a:pPr marL="285750" indent="-285750">
              <a:buFont typeface="Arial" panose="020B0604020202020204" pitchFamily="34" charset="0"/>
              <a:buChar char="•"/>
            </a:pPr>
            <a:r>
              <a:rPr lang="en-US" sz="1800" dirty="0"/>
              <a:t>It also supports features such as leave history tracking, role-based access, and real-time updates, improving communication between faculty and management.</a:t>
            </a:r>
          </a:p>
          <a:p>
            <a:pPr marL="285750" indent="-285750">
              <a:buFont typeface="Arial" panose="020B0604020202020204" pitchFamily="34" charset="0"/>
              <a:buChar char="•"/>
            </a:pPr>
            <a:r>
              <a:rPr lang="en-US" sz="1800" dirty="0"/>
              <a:t>This system replaces traditional manual leave management methods with a more efficient, accurate, and time-saving digital solution. It enhances data organization, reduces paperwork, and ensures better monitoring of faculty availability. </a:t>
            </a:r>
          </a:p>
          <a:p>
            <a:pPr marL="285750" indent="-285750">
              <a:buFont typeface="Arial" panose="020B0604020202020204" pitchFamily="34" charset="0"/>
              <a:buChar char="•"/>
            </a:pPr>
            <a:r>
              <a:rPr lang="en-US" sz="1800" dirty="0"/>
              <a:t>The application is developed using the</a:t>
            </a:r>
            <a:r>
              <a:rPr lang="en-US" sz="1800" b="1" dirty="0"/>
              <a:t> </a:t>
            </a:r>
            <a:r>
              <a:rPr lang="en-US" sz="1800" dirty="0"/>
              <a:t>MERN stack</a:t>
            </a:r>
            <a:r>
              <a:rPr lang="en-US" sz="1800" b="1" dirty="0"/>
              <a:t>, </a:t>
            </a:r>
            <a:r>
              <a:rPr lang="en-US" sz="1800" dirty="0"/>
              <a:t>utilizing</a:t>
            </a:r>
            <a:r>
              <a:rPr lang="en-US" sz="1800" b="1" dirty="0"/>
              <a:t> </a:t>
            </a:r>
            <a:r>
              <a:rPr lang="en-US" sz="1800" dirty="0"/>
              <a:t>MongoDB</a:t>
            </a:r>
            <a:r>
              <a:rPr lang="en-US" sz="1800" b="1" dirty="0"/>
              <a:t> </a:t>
            </a:r>
            <a:r>
              <a:rPr lang="en-US" sz="1800" dirty="0"/>
              <a:t>for database management</a:t>
            </a:r>
            <a:r>
              <a:rPr lang="en-US" sz="1800" b="1" dirty="0"/>
              <a:t>, </a:t>
            </a:r>
            <a:r>
              <a:rPr lang="en-US" sz="1800" dirty="0"/>
              <a:t>Express.js</a:t>
            </a:r>
            <a:r>
              <a:rPr lang="en-US" sz="1800" b="1" dirty="0"/>
              <a:t> </a:t>
            </a:r>
            <a:r>
              <a:rPr lang="en-US" sz="1800" dirty="0"/>
              <a:t>and</a:t>
            </a:r>
            <a:r>
              <a:rPr lang="en-US" sz="1800" b="1" dirty="0"/>
              <a:t> </a:t>
            </a:r>
            <a:r>
              <a:rPr lang="en-US" sz="1800" dirty="0"/>
              <a:t>Node.js</a:t>
            </a:r>
            <a:r>
              <a:rPr lang="en-US" sz="1800" b="1" dirty="0"/>
              <a:t> </a:t>
            </a:r>
            <a:r>
              <a:rPr lang="en-US" sz="1800" dirty="0"/>
              <a:t>for backend operation</a:t>
            </a:r>
            <a:r>
              <a:rPr lang="en-US" sz="1800" b="1" dirty="0"/>
              <a:t>s, </a:t>
            </a:r>
            <a:r>
              <a:rPr lang="en-US" sz="1800" dirty="0"/>
              <a:t>and</a:t>
            </a:r>
            <a:r>
              <a:rPr lang="en-US" sz="1800" b="1" dirty="0"/>
              <a:t> </a:t>
            </a:r>
            <a:r>
              <a:rPr lang="en-US" sz="1800" dirty="0"/>
              <a:t>React</a:t>
            </a:r>
            <a:r>
              <a:rPr lang="en-US" sz="1800" b="1" dirty="0"/>
              <a:t> </a:t>
            </a:r>
            <a:r>
              <a:rPr lang="en-US" sz="1800" dirty="0"/>
              <a:t>for building an interactive user interface. </a:t>
            </a:r>
          </a:p>
          <a:p>
            <a:pPr marL="285750" indent="-285750">
              <a:buFont typeface="Arial" panose="020B0604020202020204" pitchFamily="34" charset="0"/>
              <a:buChar char="•"/>
            </a:pPr>
            <a:r>
              <a:rPr lang="en-US" sz="1800" dirty="0"/>
              <a:t>It also implements secure authentication using</a:t>
            </a:r>
            <a:r>
              <a:rPr lang="en-US" sz="1800" b="1" dirty="0"/>
              <a:t> </a:t>
            </a:r>
            <a:r>
              <a:rPr lang="en-US" sz="1800" dirty="0"/>
              <a:t>JWT (JSON Web Token)</a:t>
            </a:r>
            <a:r>
              <a:rPr lang="en-US" sz="1800" b="1" dirty="0"/>
              <a:t> </a:t>
            </a:r>
            <a:r>
              <a:rPr lang="en-US" sz="1800" dirty="0"/>
              <a:t>to ensure data security and authorized access. Overall, the Faculty Leave Management System is designed to be user-friendly, scalable, and reliable, making it an effective solution for managing faculty leave processes in modern educational institutions.</a:t>
            </a:r>
            <a:endParaRPr lang="en-US" sz="1800" b="1" dirty="0"/>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9"/>
            <a:ext cx="5103904" cy="640230"/>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810000" y="118788"/>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762000" y="522930"/>
            <a:ext cx="8534400" cy="7386638"/>
          </a:xfrm>
          <a:prstGeom prst="rect">
            <a:avLst/>
          </a:prstGeom>
          <a:noFill/>
        </p:spPr>
        <p:txBody>
          <a:bodyPr wrap="square" rtlCol="0">
            <a:spAutoFit/>
          </a:bodyPr>
          <a:lstStyle/>
          <a:p>
            <a:pPr algn="just">
              <a:spcBef>
                <a:spcPts val="1200"/>
              </a:spcBef>
            </a:pPr>
            <a:r>
              <a:rPr lang="en-US" sz="2400" b="1" dirty="0">
                <a:latin typeface="Times New Roman" panose="02020603050405020304" pitchFamily="18" charset="0"/>
                <a:cs typeface="Times New Roman" panose="02020603050405020304" pitchFamily="18" charset="0"/>
              </a:rPr>
              <a:t>Functional Requirements:</a:t>
            </a:r>
          </a:p>
          <a:p>
            <a:r>
              <a:rPr lang="en-US" sz="1800" dirty="0"/>
              <a:t>Functional requirements define the core operations and functionalities that the FLMS must perform to ensure efficient leave management and smooth interaction between faculty and administration. The functional requirements of the system are:</a:t>
            </a:r>
            <a:endParaRPr lang="en-US" sz="1800" b="1" dirty="0"/>
          </a:p>
          <a:p>
            <a:pPr marL="285750" lvl="0" indent="-285750">
              <a:buFont typeface="Arial" panose="020B0604020202020204" pitchFamily="34" charset="0"/>
              <a:buChar char="•"/>
            </a:pPr>
            <a:r>
              <a:rPr lang="en-US" sz="1800" b="1" dirty="0"/>
              <a:t>User Registration and Login</a:t>
            </a:r>
            <a:r>
              <a:rPr lang="en-US" b="1" dirty="0"/>
              <a:t>-</a:t>
            </a:r>
            <a:r>
              <a:rPr lang="en-US" sz="1800" dirty="0"/>
              <a:t>The system should allow faculty members and administrators to register and log in using valid credentials. It should ensure secure authentication using JWT and support basic profile management.</a:t>
            </a:r>
            <a:endParaRPr lang="en-US" sz="1800" b="1" dirty="0"/>
          </a:p>
          <a:p>
            <a:pPr marL="285750" lvl="0" indent="-285750">
              <a:buFont typeface="Arial" panose="020B0604020202020204" pitchFamily="34" charset="0"/>
              <a:buChar char="•"/>
            </a:pPr>
            <a:r>
              <a:rPr lang="en-US" sz="1800" b="1" dirty="0"/>
              <a:t>Leave Application Management-</a:t>
            </a:r>
            <a:r>
              <a:rPr lang="en-US" sz="1800" dirty="0"/>
              <a:t>  The system should allow users to create, update, and delete servers and  Channels. .It should support organizing communication through structured groups.</a:t>
            </a:r>
          </a:p>
          <a:p>
            <a:pPr marL="285750" lvl="0" indent="-285750">
              <a:buFont typeface="Arial" panose="020B0604020202020204" pitchFamily="34" charset="0"/>
              <a:buChar char="•"/>
            </a:pPr>
            <a:r>
              <a:rPr lang="en-US" sz="1800" b="1" dirty="0"/>
              <a:t>Real-Time Messaging-</a:t>
            </a:r>
            <a:r>
              <a:rPr lang="en-US" sz="1800" dirty="0"/>
              <a:t>The system should allow users to send, edit, and delete messages in real-time. It should support message reactions and file sharing.</a:t>
            </a:r>
          </a:p>
          <a:p>
            <a:pPr marL="285750" lvl="0" indent="-285750">
              <a:buFont typeface="Arial" panose="020B0604020202020204" pitchFamily="34" charset="0"/>
              <a:buChar char="•"/>
            </a:pPr>
            <a:r>
              <a:rPr lang="en-US" sz="1800" b="1" dirty="0"/>
              <a:t>Leave Approval System-</a:t>
            </a:r>
            <a:r>
              <a:rPr lang="en-US" sz="1800" dirty="0"/>
              <a:t>  The system should enable administrators or department heads to review, approve, or  reject leave applications with appropriate remarks. </a:t>
            </a:r>
          </a:p>
          <a:p>
            <a:pPr marL="285750" lvl="0" indent="-285750">
              <a:buFont typeface="Arial" panose="020B0604020202020204" pitchFamily="34" charset="0"/>
              <a:buChar char="•"/>
            </a:pPr>
            <a:r>
              <a:rPr lang="en-US" sz="1800" b="1" dirty="0"/>
              <a:t>Leave Tracking and History-</a:t>
            </a:r>
            <a:r>
              <a:rPr lang="en-US" sz="1800" dirty="0"/>
              <a:t>The system should allow users to view the status of their leave requests and maintain a history of all past leave records..</a:t>
            </a:r>
          </a:p>
          <a:p>
            <a:pPr marL="285750" lvl="0" indent="-285750">
              <a:buFont typeface="Arial" panose="020B0604020202020204" pitchFamily="34" charset="0"/>
              <a:buChar char="•"/>
            </a:pPr>
            <a:r>
              <a:rPr lang="en-US" sz="1800" b="1" dirty="0"/>
              <a:t>Leave Types and Balance Management-</a:t>
            </a:r>
            <a:r>
              <a:rPr lang="en-US" sz="1800" dirty="0"/>
              <a:t>The system should manage different leave categories and allow tracking of available leave balance for each faculty member</a:t>
            </a:r>
            <a:endParaRPr lang="en-US" sz="1800" b="1" dirty="0"/>
          </a:p>
          <a:p>
            <a:pPr marL="285750" lvl="0" indent="-285750">
              <a:buFont typeface="Arial" panose="020B0604020202020204" pitchFamily="34" charset="0"/>
              <a:buChar char="•"/>
            </a:pPr>
            <a:r>
              <a:rPr lang="en-US" sz="1800" b="1" dirty="0"/>
              <a:t>Notifications and Updates-</a:t>
            </a:r>
            <a:r>
              <a:rPr lang="en-US" sz="1800" dirty="0"/>
              <a:t> The system should provide real-time notifications regarding leave application status,  approvals, or rejections.</a:t>
            </a:r>
            <a:endParaRPr lang="en-US" sz="1800" b="1" dirty="0"/>
          </a:p>
          <a:p>
            <a:pPr marL="285750" lvl="0" indent="-285750">
              <a:buFont typeface="Arial" panose="020B0604020202020204" pitchFamily="34" charset="0"/>
              <a:buChar char="•"/>
            </a:pPr>
            <a:r>
              <a:rPr lang="en-US" sz="1800" b="1" dirty="0"/>
              <a:t>Role-Based Access Control-</a:t>
            </a:r>
            <a:r>
              <a:rPr lang="en-US" sz="1800" dirty="0"/>
              <a:t>  The system should restrict access based on user roles (faculty, admin), ensuring proper authorization and data security.</a:t>
            </a:r>
            <a:endParaRPr lang="en-US" sz="1800" b="1" dirty="0"/>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112096"/>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733800" y="9464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1066052" y="540207"/>
            <a:ext cx="8305800" cy="7810600"/>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Hardware Requirements</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Processor: Intel i3 or above</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RAM: Minimum 4 GB</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Storage: 20 GB</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Input Devices: Keyboard, Mouse</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Output Device: Monitor</a:t>
            </a:r>
          </a:p>
          <a:p>
            <a:pPr>
              <a:lnSpc>
                <a:spcPct val="150000"/>
              </a:lnSpc>
            </a:pPr>
            <a:endParaRPr lang="en-IN" sz="1100" dirty="0">
              <a:latin typeface="Times New Roman" panose="02020603050405020304" pitchFamily="18" charset="0"/>
              <a:cs typeface="Times New Roman" panose="02020603050405020304" pitchFamily="18" charset="0"/>
            </a:endParaRPr>
          </a:p>
          <a:p>
            <a:pPr>
              <a:lnSpc>
                <a:spcPct val="150000"/>
              </a:lnSpc>
            </a:pPr>
            <a:r>
              <a:rPr lang="en-IN" sz="2200" b="1" dirty="0">
                <a:latin typeface="Times New Roman" panose="02020603050405020304" pitchFamily="18" charset="0"/>
                <a:cs typeface="Times New Roman" panose="02020603050405020304" pitchFamily="18" charset="0"/>
              </a:rPr>
              <a:t>Software Requirements</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Operating System: Windows / Linux</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Programming Language: HTML,CSS, </a:t>
            </a:r>
            <a:r>
              <a:rPr lang="en-IN" sz="2200" dirty="0" err="1">
                <a:latin typeface="Times New Roman" panose="02020603050405020304" pitchFamily="18" charset="0"/>
                <a:cs typeface="Times New Roman" panose="02020603050405020304" pitchFamily="18" charset="0"/>
              </a:rPr>
              <a:t>Javascript</a:t>
            </a:r>
            <a:r>
              <a:rPr lang="en-IN" sz="2200" dirty="0">
                <a:latin typeface="Times New Roman" panose="02020603050405020304" pitchFamily="18" charset="0"/>
                <a:cs typeface="Times New Roman" panose="02020603050405020304" pitchFamily="18" charset="0"/>
              </a:rPr>
              <a:t>, Node </a:t>
            </a:r>
            <a:r>
              <a:rPr lang="en-IN" sz="2200" dirty="0" err="1">
                <a:latin typeface="Times New Roman" panose="02020603050405020304" pitchFamily="18" charset="0"/>
                <a:cs typeface="Times New Roman" panose="02020603050405020304" pitchFamily="18" charset="0"/>
              </a:rPr>
              <a:t>js</a:t>
            </a:r>
            <a:r>
              <a:rPr lang="en-IN" sz="2200" dirty="0">
                <a:latin typeface="Times New Roman" panose="02020603050405020304" pitchFamily="18" charset="0"/>
                <a:cs typeface="Times New Roman" panose="02020603050405020304" pitchFamily="18" charset="0"/>
              </a:rPr>
              <a:t> , Express </a:t>
            </a:r>
            <a:r>
              <a:rPr lang="en-IN" sz="2200" dirty="0" err="1">
                <a:latin typeface="Times New Roman" panose="02020603050405020304" pitchFamily="18" charset="0"/>
                <a:cs typeface="Times New Roman" panose="02020603050405020304" pitchFamily="18" charset="0"/>
              </a:rPr>
              <a:t>Js</a:t>
            </a:r>
            <a:endParaRPr lang="en-IN" sz="22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IDE: VS Code </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Database: MongoDB</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GitHub (for version control)</a:t>
            </a:r>
          </a:p>
          <a:p>
            <a:pPr marL="285750" indent="-285750" algn="just">
              <a:lnSpc>
                <a:spcPct val="150000"/>
              </a:lnSpc>
              <a:buFont typeface="Arial" panose="020B0604020202020204" pitchFamily="34" charset="0"/>
              <a:buChar char="•"/>
            </a:pPr>
            <a:r>
              <a:rPr lang="en-IN" sz="1800" dirty="0"/>
              <a:t>Connectivity: Mongoose / REST API</a:t>
            </a:r>
          </a:p>
          <a:p>
            <a:pPr marL="285750" indent="-285750" algn="just">
              <a:lnSpc>
                <a:spcPct val="150000"/>
              </a:lnSpc>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272052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3C03A-992A-CEAD-5FB8-686527824E66}"/>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EA7C8F04-95CA-C1E0-BFA2-4BFACD89E6B8}"/>
              </a:ext>
            </a:extLst>
          </p:cNvPr>
          <p:cNvGrpSpPr/>
          <p:nvPr/>
        </p:nvGrpSpPr>
        <p:grpSpPr>
          <a:xfrm>
            <a:off x="2648412" y="29493"/>
            <a:ext cx="5103904" cy="1198311"/>
            <a:chOff x="2648188" y="47148"/>
            <a:chExt cx="5103904" cy="1198311"/>
          </a:xfrm>
        </p:grpSpPr>
        <p:pic>
          <p:nvPicPr>
            <p:cNvPr id="6" name="object 4">
              <a:extLst>
                <a:ext uri="{FF2B5EF4-FFF2-40B4-BE49-F238E27FC236}">
                  <a16:creationId xmlns:a16="http://schemas.microsoft.com/office/drawing/2014/main" id="{B989C992-155F-6A68-0B08-3B39FFBAA62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031E1F9-FB82-922E-C796-97077F94E70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8EAA2CC3-9696-811E-B5BE-5C1848177706}"/>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F65D09F8-C17C-F03E-88B8-4942A39F209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65154CDE-FB1D-92DB-77E9-9CDAB77B8835}"/>
              </a:ext>
            </a:extLst>
          </p:cNvPr>
          <p:cNvSpPr txBox="1">
            <a:spLocks noGrp="1"/>
          </p:cNvSpPr>
          <p:nvPr>
            <p:ph type="title"/>
          </p:nvPr>
        </p:nvSpPr>
        <p:spPr>
          <a:xfrm>
            <a:off x="4103084" y="298170"/>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5E89CD20-90CB-480C-A4EB-EC7405BED441}"/>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4CDD3B24-C6E3-C570-0D11-D85BD4A44819}"/>
              </a:ext>
            </a:extLst>
          </p:cNvPr>
          <p:cNvSpPr txBox="1"/>
          <p:nvPr/>
        </p:nvSpPr>
        <p:spPr>
          <a:xfrm>
            <a:off x="76201" y="1538820"/>
            <a:ext cx="9982200" cy="4924425"/>
          </a:xfrm>
          <a:prstGeom prst="rect">
            <a:avLst/>
          </a:prstGeom>
          <a:noFill/>
        </p:spPr>
        <p:txBody>
          <a:bodyPr wrap="square" rtlCol="0">
            <a:spAutoFit/>
          </a:bodyPr>
          <a:lstStyle/>
          <a:p>
            <a:r>
              <a:rPr lang="en-US" sz="1800" dirty="0"/>
              <a:t>The </a:t>
            </a:r>
            <a:r>
              <a:rPr lang="en-US" sz="1800" b="1" dirty="0"/>
              <a:t>Faculty Leave Management System (FLMS)</a:t>
            </a:r>
            <a:r>
              <a:rPr lang="en-US" sz="1800" dirty="0"/>
              <a:t> uses </a:t>
            </a:r>
            <a:r>
              <a:rPr lang="en-US" sz="1800" b="1" dirty="0"/>
              <a:t>MongoDB</a:t>
            </a:r>
            <a:r>
              <a:rPr lang="en-US" sz="1800" dirty="0"/>
              <a:t>, a NoSQL database, to store data in a flexible and scalable manner. The database consists of multiple collections such as Users, Leave Requests, Departments, Leave Types, and Leave Records.</a:t>
            </a:r>
          </a:p>
          <a:p>
            <a:endParaRPr lang="en-US" sz="1600" dirty="0"/>
          </a:p>
          <a:p>
            <a:pPr marL="285750" lvl="0" indent="-285750">
              <a:buFont typeface="Arial" panose="020B0604020202020204" pitchFamily="34" charset="0"/>
              <a:buChar char="•"/>
            </a:pPr>
            <a:r>
              <a:rPr lang="en-US" sz="1800" b="1" dirty="0"/>
              <a:t>The Users collection</a:t>
            </a:r>
            <a:r>
              <a:rPr lang="en-US" sz="1800" dirty="0"/>
              <a:t> stores details of registered users, including faculty members and administrators in the system. </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800" b="1" dirty="0"/>
              <a:t>The Leave Requests collection</a:t>
            </a:r>
            <a:r>
              <a:rPr lang="en-US" sz="1800" dirty="0"/>
              <a:t> stores information about leave applications submitted by faculty, including dates, type of leave, and status. </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800" b="1" dirty="0"/>
              <a:t>The Departments collection</a:t>
            </a:r>
            <a:r>
              <a:rPr lang="en-US" sz="1800" dirty="0"/>
              <a:t> stores details of different departments within the institution to organize faculty members. </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800" b="1" dirty="0"/>
              <a:t>The Leave Types collection</a:t>
            </a:r>
            <a:r>
              <a:rPr lang="en-US" sz="1800" dirty="0"/>
              <a:t> stores various categories of leave such as casual leave, sick leave, and earned leave. </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800" b="1" dirty="0"/>
              <a:t>The Leave Records collection</a:t>
            </a:r>
            <a:r>
              <a:rPr lang="en-US" sz="1800" dirty="0"/>
              <a:t> maintains the history of all approved, rejected, and pending leave applications for tracking and reference.</a:t>
            </a:r>
            <a:endParaRPr lang="en-US" sz="1600" dirty="0"/>
          </a:p>
        </p:txBody>
      </p:sp>
    </p:spTree>
    <p:extLst>
      <p:ext uri="{BB962C8B-B14F-4D97-AF65-F5344CB8AC3E}">
        <p14:creationId xmlns:p14="http://schemas.microsoft.com/office/powerpoint/2010/main" val="891828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440B4-B462-F22D-0950-B6710CF9EA51}"/>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4A9BBA5-9A38-1657-0653-14EC0D3B9CE4}"/>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6656BA03-D3A4-CDEA-202C-38C81F635B7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4C109C39-054A-E81F-70B9-386F94A44C3C}"/>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1533A0EA-DA31-1EB6-ADF3-083AD01A4E8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E8E014C-4F7F-C10B-D153-7578A6AE564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5ECF7B6-4D35-5116-1FBA-A710C58C5A84}"/>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98FBF8DD-4922-6047-5E1A-EAFBB22DFB9B}"/>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36FE3A23-6F7A-9CD3-0012-E9E7C7331AAD}"/>
              </a:ext>
            </a:extLst>
          </p:cNvPr>
          <p:cNvSpPr txBox="1"/>
          <p:nvPr/>
        </p:nvSpPr>
        <p:spPr>
          <a:xfrm>
            <a:off x="192134" y="595975"/>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DB0D226A-4905-9A23-644C-CE3991C38936}"/>
              </a:ext>
            </a:extLst>
          </p:cNvPr>
          <p:cNvSpPr txBox="1"/>
          <p:nvPr/>
        </p:nvSpPr>
        <p:spPr>
          <a:xfrm>
            <a:off x="395510" y="1235376"/>
            <a:ext cx="8763784" cy="646331"/>
          </a:xfrm>
          <a:prstGeom prst="rect">
            <a:avLst/>
          </a:prstGeom>
          <a:noFill/>
        </p:spPr>
        <p:txBody>
          <a:bodyPr wrap="square">
            <a:spAutoFit/>
          </a:bodyPr>
          <a:lstStyle/>
          <a:p>
            <a:r>
              <a:rPr lang="en-IN" b="1" dirty="0"/>
              <a:t>Employees Table :</a:t>
            </a:r>
          </a:p>
          <a:p>
            <a:r>
              <a:rPr lang="en-US" dirty="0"/>
              <a:t>			Stores Employees details (</a:t>
            </a:r>
            <a:r>
              <a:rPr lang="en-US" dirty="0" err="1"/>
              <a:t>Employee_id,Name,role,etc</a:t>
            </a:r>
            <a:r>
              <a:rPr lang="en-US" dirty="0"/>
              <a:t>)</a:t>
            </a:r>
            <a:endParaRPr lang="en-IN" b="1" dirty="0"/>
          </a:p>
        </p:txBody>
      </p:sp>
      <p:graphicFrame>
        <p:nvGraphicFramePr>
          <p:cNvPr id="15" name="Table 14">
            <a:extLst>
              <a:ext uri="{FF2B5EF4-FFF2-40B4-BE49-F238E27FC236}">
                <a16:creationId xmlns:a16="http://schemas.microsoft.com/office/drawing/2014/main" id="{7A2EBB8D-ECD5-E1A2-413F-793969B568BB}"/>
              </a:ext>
            </a:extLst>
          </p:cNvPr>
          <p:cNvGraphicFramePr>
            <a:graphicFrameLocks noGrp="1"/>
          </p:cNvGraphicFramePr>
          <p:nvPr>
            <p:extLst>
              <p:ext uri="{D42A27DB-BD31-4B8C-83A1-F6EECF244321}">
                <p14:modId xmlns:p14="http://schemas.microsoft.com/office/powerpoint/2010/main" val="2694581779"/>
              </p:ext>
            </p:extLst>
          </p:nvPr>
        </p:nvGraphicFramePr>
        <p:xfrm>
          <a:off x="1158052" y="2057584"/>
          <a:ext cx="8077984" cy="5257616"/>
        </p:xfrm>
        <a:graphic>
          <a:graphicData uri="http://schemas.openxmlformats.org/drawingml/2006/table">
            <a:tbl>
              <a:tblPr firstRow="1" bandRow="1">
                <a:tableStyleId>{5C22544A-7EE6-4342-B048-85BDC9FD1C3A}</a:tableStyleId>
              </a:tblPr>
              <a:tblGrid>
                <a:gridCol w="2019496">
                  <a:extLst>
                    <a:ext uri="{9D8B030D-6E8A-4147-A177-3AD203B41FA5}">
                      <a16:colId xmlns:a16="http://schemas.microsoft.com/office/drawing/2014/main" val="2565518768"/>
                    </a:ext>
                  </a:extLst>
                </a:gridCol>
                <a:gridCol w="2019496">
                  <a:extLst>
                    <a:ext uri="{9D8B030D-6E8A-4147-A177-3AD203B41FA5}">
                      <a16:colId xmlns:a16="http://schemas.microsoft.com/office/drawing/2014/main" val="1063026024"/>
                    </a:ext>
                  </a:extLst>
                </a:gridCol>
                <a:gridCol w="2019496">
                  <a:extLst>
                    <a:ext uri="{9D8B030D-6E8A-4147-A177-3AD203B41FA5}">
                      <a16:colId xmlns:a16="http://schemas.microsoft.com/office/drawing/2014/main" val="2318603987"/>
                    </a:ext>
                  </a:extLst>
                </a:gridCol>
                <a:gridCol w="2019496">
                  <a:extLst>
                    <a:ext uri="{9D8B030D-6E8A-4147-A177-3AD203B41FA5}">
                      <a16:colId xmlns:a16="http://schemas.microsoft.com/office/drawing/2014/main" val="4086323780"/>
                    </a:ext>
                  </a:extLst>
                </a:gridCol>
              </a:tblGrid>
              <a:tr h="642914">
                <a:tc>
                  <a:txBody>
                    <a:bodyPr/>
                    <a:lstStyle/>
                    <a:p>
                      <a:pPr>
                        <a:buNone/>
                      </a:pPr>
                      <a:r>
                        <a:rPr lang="en-IN" dirty="0"/>
                        <a:t>Field Name</a:t>
                      </a:r>
                    </a:p>
                  </a:txBody>
                  <a:tcPr anchor="ctr"/>
                </a:tc>
                <a:tc>
                  <a:txBody>
                    <a:bodyPr/>
                    <a:lstStyle/>
                    <a:p>
                      <a:pPr>
                        <a:buNone/>
                      </a:pPr>
                      <a:r>
                        <a:rPr lang="en-IN"/>
                        <a:t>Data Type</a:t>
                      </a:r>
                    </a:p>
                  </a:txBody>
                  <a:tcPr anchor="ctr"/>
                </a:tc>
                <a:tc>
                  <a:txBody>
                    <a:bodyPr/>
                    <a:lstStyle/>
                    <a:p>
                      <a:pPr>
                        <a:buNone/>
                      </a:pPr>
                      <a:r>
                        <a:rPr lang="en-IN"/>
                        <a:t>Key</a:t>
                      </a:r>
                    </a:p>
                  </a:txBody>
                  <a:tcPr anchor="ctr"/>
                </a:tc>
                <a:tc>
                  <a:txBody>
                    <a:bodyPr/>
                    <a:lstStyle/>
                    <a:p>
                      <a:pPr>
                        <a:buNone/>
                      </a:pPr>
                      <a:r>
                        <a:rPr lang="en-IN"/>
                        <a:t>Description</a:t>
                      </a:r>
                    </a:p>
                  </a:txBody>
                  <a:tcPr anchor="ctr"/>
                </a:tc>
                <a:extLst>
                  <a:ext uri="{0D108BD9-81ED-4DB2-BD59-A6C34878D82A}">
                    <a16:rowId xmlns:a16="http://schemas.microsoft.com/office/drawing/2014/main" val="777565158"/>
                  </a:ext>
                </a:extLst>
              </a:tr>
              <a:tr h="642914">
                <a:tc>
                  <a:txBody>
                    <a:bodyPr/>
                    <a:lstStyle/>
                    <a:p>
                      <a:pPr>
                        <a:buNone/>
                      </a:pPr>
                      <a:r>
                        <a:rPr lang="en-ZA" dirty="0"/>
                        <a:t>I</a:t>
                      </a:r>
                      <a:r>
                        <a:rPr lang="en-IN" dirty="0"/>
                        <a:t>d</a:t>
                      </a:r>
                    </a:p>
                  </a:txBody>
                  <a:tcPr anchor="ctr"/>
                </a:tc>
                <a:tc>
                  <a:txBody>
                    <a:bodyPr/>
                    <a:lstStyle/>
                    <a:p>
                      <a:pPr>
                        <a:buNone/>
                      </a:pPr>
                      <a:r>
                        <a:rPr lang="en-IN" dirty="0"/>
                        <a:t>INT</a:t>
                      </a:r>
                    </a:p>
                  </a:txBody>
                  <a:tcPr anchor="ctr"/>
                </a:tc>
                <a:tc>
                  <a:txBody>
                    <a:bodyPr/>
                    <a:lstStyle/>
                    <a:p>
                      <a:pPr>
                        <a:buNone/>
                      </a:pPr>
                      <a:r>
                        <a:rPr lang="en-IN" dirty="0"/>
                        <a:t>Primary Key</a:t>
                      </a:r>
                    </a:p>
                  </a:txBody>
                  <a:tcPr anchor="ctr"/>
                </a:tc>
                <a:tc>
                  <a:txBody>
                    <a:bodyPr/>
                    <a:lstStyle/>
                    <a:p>
                      <a:pPr>
                        <a:buNone/>
                      </a:pPr>
                      <a:r>
                        <a:rPr lang="en-IN" dirty="0"/>
                        <a:t>Employee count</a:t>
                      </a:r>
                    </a:p>
                  </a:txBody>
                  <a:tcPr anchor="ctr"/>
                </a:tc>
                <a:extLst>
                  <a:ext uri="{0D108BD9-81ED-4DB2-BD59-A6C34878D82A}">
                    <a16:rowId xmlns:a16="http://schemas.microsoft.com/office/drawing/2014/main" val="3144488007"/>
                  </a:ext>
                </a:extLst>
              </a:tr>
              <a:tr h="736344">
                <a:tc>
                  <a:txBody>
                    <a:bodyPr/>
                    <a:lstStyle/>
                    <a:p>
                      <a:pPr>
                        <a:buNone/>
                      </a:pPr>
                      <a:r>
                        <a:rPr lang="en-IN" dirty="0" err="1"/>
                        <a:t>Employee_id</a:t>
                      </a:r>
                      <a:endParaRPr lang="en-IN" dirty="0"/>
                    </a:p>
                  </a:txBody>
                  <a:tcPr anchor="ctr"/>
                </a:tc>
                <a:tc>
                  <a:txBody>
                    <a:bodyPr/>
                    <a:lstStyle/>
                    <a:p>
                      <a:pPr>
                        <a:buNone/>
                      </a:pPr>
                      <a:r>
                        <a:rPr lang="en-IN" dirty="0"/>
                        <a:t>Int</a:t>
                      </a:r>
                    </a:p>
                  </a:txBody>
                  <a:tcPr anchor="ctr"/>
                </a:tc>
                <a:tc>
                  <a:txBody>
                    <a:bodyPr/>
                    <a:lstStyle/>
                    <a:p>
                      <a:pPr>
                        <a:buNone/>
                      </a:pPr>
                      <a:r>
                        <a:rPr lang="en-IN" dirty="0"/>
                        <a:t>Unique</a:t>
                      </a:r>
                    </a:p>
                  </a:txBody>
                  <a:tcPr anchor="ctr"/>
                </a:tc>
                <a:tc>
                  <a:txBody>
                    <a:bodyPr/>
                    <a:lstStyle/>
                    <a:p>
                      <a:pPr>
                        <a:buNone/>
                      </a:pPr>
                      <a:r>
                        <a:rPr lang="en-IN" dirty="0"/>
                        <a:t>Employee ID</a:t>
                      </a:r>
                    </a:p>
                  </a:txBody>
                  <a:tcPr anchor="ctr"/>
                </a:tc>
                <a:extLst>
                  <a:ext uri="{0D108BD9-81ED-4DB2-BD59-A6C34878D82A}">
                    <a16:rowId xmlns:a16="http://schemas.microsoft.com/office/drawing/2014/main" val="2379907431"/>
                  </a:ext>
                </a:extLst>
              </a:tr>
              <a:tr h="762000">
                <a:tc>
                  <a:txBody>
                    <a:bodyPr/>
                    <a:lstStyle/>
                    <a:p>
                      <a:pPr>
                        <a:buNone/>
                      </a:pPr>
                      <a:r>
                        <a:rPr lang="en-IN" dirty="0"/>
                        <a:t>Password</a:t>
                      </a:r>
                    </a:p>
                  </a:txBody>
                  <a:tcPr anchor="ctr"/>
                </a:tc>
                <a:tc>
                  <a:txBody>
                    <a:bodyPr/>
                    <a:lstStyle/>
                    <a:p>
                      <a:pPr>
                        <a:buNone/>
                      </a:pPr>
                      <a:r>
                        <a:rPr lang="en-IN" dirty="0"/>
                        <a:t>VARCHAR(200)</a:t>
                      </a:r>
                    </a:p>
                  </a:txBody>
                  <a:tcPr anchor="ctr"/>
                </a:tc>
                <a:tc>
                  <a:txBody>
                    <a:bodyPr/>
                    <a:lstStyle/>
                    <a:p>
                      <a:pPr>
                        <a:buNone/>
                      </a:pPr>
                      <a:r>
                        <a:rPr lang="en-IN" dirty="0"/>
                        <a:t>—</a:t>
                      </a:r>
                    </a:p>
                  </a:txBody>
                  <a:tcPr anchor="ctr"/>
                </a:tc>
                <a:tc>
                  <a:txBody>
                    <a:bodyPr/>
                    <a:lstStyle/>
                    <a:p>
                      <a:pPr>
                        <a:buNone/>
                      </a:pPr>
                      <a:r>
                        <a:rPr lang="en-IN" dirty="0"/>
                        <a:t>password</a:t>
                      </a:r>
                    </a:p>
                  </a:txBody>
                  <a:tcPr anchor="ctr"/>
                </a:tc>
                <a:extLst>
                  <a:ext uri="{0D108BD9-81ED-4DB2-BD59-A6C34878D82A}">
                    <a16:rowId xmlns:a16="http://schemas.microsoft.com/office/drawing/2014/main" val="1832366527"/>
                  </a:ext>
                </a:extLst>
              </a:tr>
              <a:tr h="685800">
                <a:tc>
                  <a:txBody>
                    <a:bodyPr/>
                    <a:lstStyle/>
                    <a:p>
                      <a:pPr>
                        <a:buNone/>
                      </a:pPr>
                      <a:r>
                        <a:rPr lang="en-ZA" dirty="0"/>
                        <a:t>Name</a:t>
                      </a:r>
                      <a:endParaRPr lang="en-IN" dirty="0"/>
                    </a:p>
                  </a:txBody>
                  <a:tcPr anchor="ctr"/>
                </a:tc>
                <a:tc>
                  <a:txBody>
                    <a:bodyPr/>
                    <a:lstStyle/>
                    <a:p>
                      <a:pPr>
                        <a:buNone/>
                      </a:pPr>
                      <a:r>
                        <a:rPr lang="en-ZA" dirty="0"/>
                        <a:t>VARCHAR(100)</a:t>
                      </a:r>
                      <a:endParaRPr lang="en-IN" dirty="0"/>
                    </a:p>
                  </a:txBody>
                  <a:tcPr anchor="ctr"/>
                </a:tc>
                <a:tc>
                  <a:txBody>
                    <a:bodyPr/>
                    <a:lstStyle/>
                    <a:p>
                      <a:pPr>
                        <a:buNone/>
                      </a:pPr>
                      <a:r>
                        <a:rPr lang="en-ZA" dirty="0"/>
                        <a:t>__</a:t>
                      </a:r>
                      <a:endParaRPr lang="en-IN" dirty="0"/>
                    </a:p>
                  </a:txBody>
                  <a:tcPr anchor="ctr"/>
                </a:tc>
                <a:tc>
                  <a:txBody>
                    <a:bodyPr/>
                    <a:lstStyle/>
                    <a:p>
                      <a:pPr>
                        <a:buNone/>
                      </a:pPr>
                      <a:r>
                        <a:rPr lang="en-ZA" dirty="0"/>
                        <a:t>Faculty name</a:t>
                      </a:r>
                      <a:endParaRPr lang="en-IN" dirty="0"/>
                    </a:p>
                  </a:txBody>
                  <a:tcPr anchor="ctr"/>
                </a:tc>
                <a:extLst>
                  <a:ext uri="{0D108BD9-81ED-4DB2-BD59-A6C34878D82A}">
                    <a16:rowId xmlns:a16="http://schemas.microsoft.com/office/drawing/2014/main" val="2701096321"/>
                  </a:ext>
                </a:extLst>
              </a:tr>
              <a:tr h="949444">
                <a:tc>
                  <a:txBody>
                    <a:bodyPr/>
                    <a:lstStyle/>
                    <a:p>
                      <a:pPr>
                        <a:buNone/>
                      </a:pPr>
                      <a:r>
                        <a:rPr lang="en-ZA" dirty="0"/>
                        <a:t>Department</a:t>
                      </a:r>
                      <a:endParaRPr lang="en-IN" dirty="0"/>
                    </a:p>
                  </a:txBody>
                  <a:tcPr anchor="ctr"/>
                </a:tc>
                <a:tc>
                  <a:txBody>
                    <a:bodyPr/>
                    <a:lstStyle/>
                    <a:p>
                      <a:pPr>
                        <a:buNone/>
                      </a:pPr>
                      <a:r>
                        <a:rPr lang="en-ZA" dirty="0"/>
                        <a:t>VARCHAR(100)</a:t>
                      </a:r>
                      <a:endParaRPr lang="en-IN" dirty="0"/>
                    </a:p>
                  </a:txBody>
                  <a:tcPr anchor="ctr"/>
                </a:tc>
                <a:tc>
                  <a:txBody>
                    <a:bodyPr/>
                    <a:lstStyle/>
                    <a:p>
                      <a:pPr>
                        <a:buNone/>
                      </a:pPr>
                      <a:r>
                        <a:rPr lang="en-ZA" dirty="0"/>
                        <a:t>__</a:t>
                      </a:r>
                      <a:endParaRPr lang="en-IN" dirty="0"/>
                    </a:p>
                  </a:txBody>
                  <a:tcPr anchor="ctr"/>
                </a:tc>
                <a:tc>
                  <a:txBody>
                    <a:bodyPr/>
                    <a:lstStyle/>
                    <a:p>
                      <a:pPr>
                        <a:buNone/>
                      </a:pPr>
                      <a:r>
                        <a:rPr lang="en-ZA" dirty="0"/>
                        <a:t>Faculty Department</a:t>
                      </a:r>
                      <a:endParaRPr lang="en-IN" dirty="0"/>
                    </a:p>
                  </a:txBody>
                  <a:tcPr anchor="ctr"/>
                </a:tc>
                <a:extLst>
                  <a:ext uri="{0D108BD9-81ED-4DB2-BD59-A6C34878D82A}">
                    <a16:rowId xmlns:a16="http://schemas.microsoft.com/office/drawing/2014/main" val="3280708218"/>
                  </a:ext>
                </a:extLst>
              </a:tr>
              <a:tr h="838200">
                <a:tc>
                  <a:txBody>
                    <a:bodyPr/>
                    <a:lstStyle/>
                    <a:p>
                      <a:pPr>
                        <a:buNone/>
                      </a:pPr>
                      <a:r>
                        <a:rPr lang="en-ZA" dirty="0"/>
                        <a:t>Role</a:t>
                      </a:r>
                      <a:endParaRPr lang="en-IN" dirty="0"/>
                    </a:p>
                  </a:txBody>
                  <a:tcPr anchor="ctr"/>
                </a:tc>
                <a:tc>
                  <a:txBody>
                    <a:bodyPr/>
                    <a:lstStyle/>
                    <a:p>
                      <a:pPr>
                        <a:buNone/>
                      </a:pPr>
                      <a:r>
                        <a:rPr lang="en-ZA" dirty="0"/>
                        <a:t>VARCHAR(10)</a:t>
                      </a:r>
                      <a:endParaRPr lang="en-IN" dirty="0"/>
                    </a:p>
                  </a:txBody>
                  <a:tcPr anchor="ctr"/>
                </a:tc>
                <a:tc>
                  <a:txBody>
                    <a:bodyPr/>
                    <a:lstStyle/>
                    <a:p>
                      <a:pPr>
                        <a:buNone/>
                      </a:pPr>
                      <a:r>
                        <a:rPr lang="en-ZA" dirty="0"/>
                        <a:t>__</a:t>
                      </a:r>
                      <a:endParaRPr lang="en-IN" dirty="0"/>
                    </a:p>
                  </a:txBody>
                  <a:tcPr anchor="ctr"/>
                </a:tc>
                <a:tc>
                  <a:txBody>
                    <a:bodyPr/>
                    <a:lstStyle/>
                    <a:p>
                      <a:pPr>
                        <a:buNone/>
                      </a:pPr>
                      <a:r>
                        <a:rPr lang="en-ZA" dirty="0"/>
                        <a:t>Role of Faculty</a:t>
                      </a:r>
                      <a:endParaRPr lang="en-IN" dirty="0"/>
                    </a:p>
                  </a:txBody>
                  <a:tcPr anchor="ctr"/>
                </a:tc>
                <a:extLst>
                  <a:ext uri="{0D108BD9-81ED-4DB2-BD59-A6C34878D82A}">
                    <a16:rowId xmlns:a16="http://schemas.microsoft.com/office/drawing/2014/main" val="1293699951"/>
                  </a:ext>
                </a:extLst>
              </a:tr>
            </a:tbl>
          </a:graphicData>
        </a:graphic>
      </p:graphicFrame>
    </p:spTree>
    <p:extLst>
      <p:ext uri="{BB962C8B-B14F-4D97-AF65-F5344CB8AC3E}">
        <p14:creationId xmlns:p14="http://schemas.microsoft.com/office/powerpoint/2010/main" val="256587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0787-E769-8B37-025D-041FF5E1BF9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3476D6BF-13C6-C6B0-36DF-F1559314FAB1}"/>
              </a:ext>
            </a:extLst>
          </p:cNvPr>
          <p:cNvGrpSpPr/>
          <p:nvPr/>
        </p:nvGrpSpPr>
        <p:grpSpPr>
          <a:xfrm>
            <a:off x="2645092" y="-106329"/>
            <a:ext cx="5103904" cy="1198311"/>
            <a:chOff x="2648188" y="47148"/>
            <a:chExt cx="5103904" cy="1198311"/>
          </a:xfrm>
        </p:grpSpPr>
        <p:pic>
          <p:nvPicPr>
            <p:cNvPr id="6" name="object 4">
              <a:extLst>
                <a:ext uri="{FF2B5EF4-FFF2-40B4-BE49-F238E27FC236}">
                  <a16:creationId xmlns:a16="http://schemas.microsoft.com/office/drawing/2014/main" id="{70BE4208-2AED-46E3-654C-0DE2B83F7F41}"/>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8994CB99-6727-2B94-DE57-F503E8F8FB69}"/>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2851F0DB-95C6-22C8-2435-DA8595A2F76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7689328C-CC9D-EEE6-AEF0-27195081DA2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CEAD52A-D6BA-B4AE-C1E4-8A54366273AF}"/>
              </a:ext>
            </a:extLst>
          </p:cNvPr>
          <p:cNvSpPr txBox="1">
            <a:spLocks noGrp="1"/>
          </p:cNvSpPr>
          <p:nvPr>
            <p:ph type="title"/>
          </p:nvPr>
        </p:nvSpPr>
        <p:spPr>
          <a:xfrm>
            <a:off x="4045471" y="19113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FAB0F939-F8B0-7014-4713-2E3FA82313DF}"/>
              </a:ext>
            </a:extLst>
          </p:cNvPr>
          <p:cNvPicPr/>
          <p:nvPr/>
        </p:nvPicPr>
        <p:blipFill>
          <a:blip r:embed="rId6" cstate="print"/>
          <a:stretch>
            <a:fillRect/>
          </a:stretch>
        </p:blipFill>
        <p:spPr>
          <a:xfrm>
            <a:off x="311194" y="51489"/>
            <a:ext cx="1163002" cy="424338"/>
          </a:xfrm>
          <a:prstGeom prst="rect">
            <a:avLst/>
          </a:prstGeom>
        </p:spPr>
      </p:pic>
      <p:sp>
        <p:nvSpPr>
          <p:cNvPr id="2" name="TextBox 1">
            <a:extLst>
              <a:ext uri="{FF2B5EF4-FFF2-40B4-BE49-F238E27FC236}">
                <a16:creationId xmlns:a16="http://schemas.microsoft.com/office/drawing/2014/main" id="{CD205DEE-CF0B-DBC2-E5CD-2C4FB4661C9F}"/>
              </a:ext>
            </a:extLst>
          </p:cNvPr>
          <p:cNvSpPr txBox="1"/>
          <p:nvPr/>
        </p:nvSpPr>
        <p:spPr>
          <a:xfrm>
            <a:off x="16770" y="383899"/>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2B7D6DA8-89F8-4CB4-20B5-36719C763BE0}"/>
              </a:ext>
            </a:extLst>
          </p:cNvPr>
          <p:cNvSpPr txBox="1"/>
          <p:nvPr/>
        </p:nvSpPr>
        <p:spPr>
          <a:xfrm>
            <a:off x="311194" y="800458"/>
            <a:ext cx="8366948" cy="646331"/>
          </a:xfrm>
          <a:prstGeom prst="rect">
            <a:avLst/>
          </a:prstGeom>
          <a:noFill/>
        </p:spPr>
        <p:txBody>
          <a:bodyPr wrap="square">
            <a:spAutoFit/>
          </a:bodyPr>
          <a:lstStyle/>
          <a:p>
            <a:r>
              <a:rPr lang="en-IN" b="1" dirty="0" err="1"/>
              <a:t>Leave_request</a:t>
            </a:r>
            <a:r>
              <a:rPr lang="en-IN" b="1" dirty="0"/>
              <a:t> Table :</a:t>
            </a:r>
          </a:p>
          <a:p>
            <a:r>
              <a:rPr lang="en-US" dirty="0"/>
              <a:t>	</a:t>
            </a:r>
            <a:r>
              <a:rPr lang="en-IN" dirty="0"/>
              <a:t>Stores leave requests details(leave type, start date, end date etc.)</a:t>
            </a:r>
            <a:endParaRPr lang="en-IN" b="1" dirty="0"/>
          </a:p>
        </p:txBody>
      </p:sp>
      <p:graphicFrame>
        <p:nvGraphicFramePr>
          <p:cNvPr id="15" name="Table 14">
            <a:extLst>
              <a:ext uri="{FF2B5EF4-FFF2-40B4-BE49-F238E27FC236}">
                <a16:creationId xmlns:a16="http://schemas.microsoft.com/office/drawing/2014/main" id="{C4CD2BA1-FBEB-D591-1D32-2516A6652B92}"/>
              </a:ext>
            </a:extLst>
          </p:cNvPr>
          <p:cNvGraphicFramePr>
            <a:graphicFrameLocks noGrp="1"/>
          </p:cNvGraphicFramePr>
          <p:nvPr>
            <p:extLst>
              <p:ext uri="{D42A27DB-BD31-4B8C-83A1-F6EECF244321}">
                <p14:modId xmlns:p14="http://schemas.microsoft.com/office/powerpoint/2010/main" val="806601757"/>
              </p:ext>
            </p:extLst>
          </p:nvPr>
        </p:nvGraphicFramePr>
        <p:xfrm>
          <a:off x="905705" y="1463168"/>
          <a:ext cx="8859048" cy="5998435"/>
        </p:xfrm>
        <a:graphic>
          <a:graphicData uri="http://schemas.openxmlformats.org/drawingml/2006/table">
            <a:tbl>
              <a:tblPr firstRow="1" bandRow="1">
                <a:tableStyleId>{5C22544A-7EE6-4342-B048-85BDC9FD1C3A}</a:tableStyleId>
              </a:tblPr>
              <a:tblGrid>
                <a:gridCol w="2214762">
                  <a:extLst>
                    <a:ext uri="{9D8B030D-6E8A-4147-A177-3AD203B41FA5}">
                      <a16:colId xmlns:a16="http://schemas.microsoft.com/office/drawing/2014/main" val="2565518768"/>
                    </a:ext>
                  </a:extLst>
                </a:gridCol>
                <a:gridCol w="2214762">
                  <a:extLst>
                    <a:ext uri="{9D8B030D-6E8A-4147-A177-3AD203B41FA5}">
                      <a16:colId xmlns:a16="http://schemas.microsoft.com/office/drawing/2014/main" val="1063026024"/>
                    </a:ext>
                  </a:extLst>
                </a:gridCol>
                <a:gridCol w="2214762">
                  <a:extLst>
                    <a:ext uri="{9D8B030D-6E8A-4147-A177-3AD203B41FA5}">
                      <a16:colId xmlns:a16="http://schemas.microsoft.com/office/drawing/2014/main" val="2318603987"/>
                    </a:ext>
                  </a:extLst>
                </a:gridCol>
                <a:gridCol w="2214762">
                  <a:extLst>
                    <a:ext uri="{9D8B030D-6E8A-4147-A177-3AD203B41FA5}">
                      <a16:colId xmlns:a16="http://schemas.microsoft.com/office/drawing/2014/main" val="4086323780"/>
                    </a:ext>
                  </a:extLst>
                </a:gridCol>
              </a:tblGrid>
              <a:tr h="642914">
                <a:tc>
                  <a:txBody>
                    <a:bodyPr/>
                    <a:lstStyle/>
                    <a:p>
                      <a:pPr>
                        <a:buNone/>
                      </a:pPr>
                      <a:r>
                        <a:rPr lang="en-IN"/>
                        <a:t>Field Name</a:t>
                      </a:r>
                    </a:p>
                  </a:txBody>
                  <a:tcPr anchor="ctr"/>
                </a:tc>
                <a:tc>
                  <a:txBody>
                    <a:bodyPr/>
                    <a:lstStyle/>
                    <a:p>
                      <a:pPr>
                        <a:buNone/>
                      </a:pPr>
                      <a:r>
                        <a:rPr lang="en-IN"/>
                        <a:t>Data Type</a:t>
                      </a:r>
                    </a:p>
                  </a:txBody>
                  <a:tcPr anchor="ctr"/>
                </a:tc>
                <a:tc>
                  <a:txBody>
                    <a:bodyPr/>
                    <a:lstStyle/>
                    <a:p>
                      <a:pPr>
                        <a:buNone/>
                      </a:pPr>
                      <a:r>
                        <a:rPr lang="en-IN" dirty="0"/>
                        <a:t>Key</a:t>
                      </a:r>
                    </a:p>
                  </a:txBody>
                  <a:tcPr anchor="ctr"/>
                </a:tc>
                <a:tc>
                  <a:txBody>
                    <a:bodyPr/>
                    <a:lstStyle/>
                    <a:p>
                      <a:pPr>
                        <a:buNone/>
                      </a:pPr>
                      <a:r>
                        <a:rPr lang="en-IN" dirty="0"/>
                        <a:t>Description</a:t>
                      </a:r>
                    </a:p>
                  </a:txBody>
                  <a:tcPr anchor="ctr"/>
                </a:tc>
                <a:extLst>
                  <a:ext uri="{0D108BD9-81ED-4DB2-BD59-A6C34878D82A}">
                    <a16:rowId xmlns:a16="http://schemas.microsoft.com/office/drawing/2014/main" val="777565158"/>
                  </a:ext>
                </a:extLst>
              </a:tr>
              <a:tr h="225205">
                <a:tc>
                  <a:txBody>
                    <a:bodyPr/>
                    <a:lstStyle/>
                    <a:p>
                      <a:pPr>
                        <a:buNone/>
                      </a:pPr>
                      <a:r>
                        <a:rPr lang="en-ZA" dirty="0"/>
                        <a:t>I</a:t>
                      </a:r>
                      <a:r>
                        <a:rPr lang="en-IN" dirty="0"/>
                        <a:t>d</a:t>
                      </a:r>
                    </a:p>
                  </a:txBody>
                  <a:tcPr anchor="ctr"/>
                </a:tc>
                <a:tc>
                  <a:txBody>
                    <a:bodyPr/>
                    <a:lstStyle/>
                    <a:p>
                      <a:pPr>
                        <a:buNone/>
                      </a:pPr>
                      <a:r>
                        <a:rPr lang="en-IN" dirty="0"/>
                        <a:t>INT</a:t>
                      </a:r>
                    </a:p>
                  </a:txBody>
                  <a:tcPr anchor="ctr"/>
                </a:tc>
                <a:tc>
                  <a:txBody>
                    <a:bodyPr/>
                    <a:lstStyle/>
                    <a:p>
                      <a:pPr>
                        <a:buNone/>
                      </a:pPr>
                      <a:r>
                        <a:rPr lang="en-IN" dirty="0"/>
                        <a:t>Primary Key</a:t>
                      </a:r>
                    </a:p>
                  </a:txBody>
                  <a:tcPr anchor="ctr"/>
                </a:tc>
                <a:tc>
                  <a:txBody>
                    <a:bodyPr/>
                    <a:lstStyle/>
                    <a:p>
                      <a:pPr>
                        <a:buNone/>
                      </a:pPr>
                      <a:r>
                        <a:rPr lang="en-IN" dirty="0"/>
                        <a:t>Request id</a:t>
                      </a:r>
                    </a:p>
                  </a:txBody>
                  <a:tcPr anchor="ctr"/>
                </a:tc>
                <a:extLst>
                  <a:ext uri="{0D108BD9-81ED-4DB2-BD59-A6C34878D82A}">
                    <a16:rowId xmlns:a16="http://schemas.microsoft.com/office/drawing/2014/main" val="3144488007"/>
                  </a:ext>
                </a:extLst>
              </a:tr>
              <a:tr h="392845">
                <a:tc>
                  <a:txBody>
                    <a:bodyPr/>
                    <a:lstStyle/>
                    <a:p>
                      <a:pPr>
                        <a:buNone/>
                      </a:pPr>
                      <a:r>
                        <a:rPr lang="en-IN" dirty="0" err="1"/>
                        <a:t>Employee_id</a:t>
                      </a:r>
                      <a:endParaRPr lang="en-IN" dirty="0"/>
                    </a:p>
                  </a:txBody>
                  <a:tcPr anchor="ctr"/>
                </a:tc>
                <a:tc>
                  <a:txBody>
                    <a:bodyPr/>
                    <a:lstStyle/>
                    <a:p>
                      <a:pPr>
                        <a:buNone/>
                      </a:pPr>
                      <a:r>
                        <a:rPr lang="en-ZA" dirty="0"/>
                        <a:t>I</a:t>
                      </a:r>
                      <a:r>
                        <a:rPr lang="en-IN" dirty="0"/>
                        <a:t>NT</a:t>
                      </a:r>
                    </a:p>
                  </a:txBody>
                  <a:tcPr anchor="ctr"/>
                </a:tc>
                <a:tc>
                  <a:txBody>
                    <a:bodyPr/>
                    <a:lstStyle/>
                    <a:p>
                      <a:pPr>
                        <a:buNone/>
                      </a:pPr>
                      <a:r>
                        <a:rPr lang="en-IN" dirty="0"/>
                        <a:t>—</a:t>
                      </a:r>
                    </a:p>
                  </a:txBody>
                  <a:tcPr anchor="ctr"/>
                </a:tc>
                <a:tc>
                  <a:txBody>
                    <a:bodyPr/>
                    <a:lstStyle/>
                    <a:p>
                      <a:pPr>
                        <a:buNone/>
                      </a:pPr>
                      <a:r>
                        <a:rPr lang="en-IN" dirty="0"/>
                        <a:t>Employee ID</a:t>
                      </a:r>
                    </a:p>
                  </a:txBody>
                  <a:tcPr anchor="ctr"/>
                </a:tc>
                <a:extLst>
                  <a:ext uri="{0D108BD9-81ED-4DB2-BD59-A6C34878D82A}">
                    <a16:rowId xmlns:a16="http://schemas.microsoft.com/office/drawing/2014/main" val="2379907431"/>
                  </a:ext>
                </a:extLst>
              </a:tr>
              <a:tr h="304800">
                <a:tc>
                  <a:txBody>
                    <a:bodyPr/>
                    <a:lstStyle/>
                    <a:p>
                      <a:pPr>
                        <a:buNone/>
                      </a:pPr>
                      <a:r>
                        <a:rPr lang="en-IN" dirty="0" err="1"/>
                        <a:t>Faculty_name</a:t>
                      </a:r>
                      <a:endParaRPr lang="en-IN" dirty="0"/>
                    </a:p>
                  </a:txBody>
                  <a:tcPr anchor="ctr"/>
                </a:tc>
                <a:tc>
                  <a:txBody>
                    <a:bodyPr/>
                    <a:lstStyle/>
                    <a:p>
                      <a:pPr>
                        <a:buNone/>
                      </a:pPr>
                      <a:r>
                        <a:rPr lang="en-IN" dirty="0"/>
                        <a:t>VARCHAR(100)</a:t>
                      </a:r>
                    </a:p>
                  </a:txBody>
                  <a:tcPr anchor="ctr"/>
                </a:tc>
                <a:tc>
                  <a:txBody>
                    <a:bodyPr/>
                    <a:lstStyle/>
                    <a:p>
                      <a:pPr>
                        <a:buNone/>
                      </a:pPr>
                      <a:r>
                        <a:rPr lang="en-IN" dirty="0"/>
                        <a:t>—</a:t>
                      </a:r>
                    </a:p>
                  </a:txBody>
                  <a:tcPr anchor="ctr"/>
                </a:tc>
                <a:tc>
                  <a:txBody>
                    <a:bodyPr/>
                    <a:lstStyle/>
                    <a:p>
                      <a:pPr>
                        <a:buNone/>
                      </a:pPr>
                      <a:r>
                        <a:rPr lang="en-IN" dirty="0"/>
                        <a:t>Name of faculty</a:t>
                      </a:r>
                    </a:p>
                  </a:txBody>
                  <a:tcPr anchor="ctr"/>
                </a:tc>
                <a:extLst>
                  <a:ext uri="{0D108BD9-81ED-4DB2-BD59-A6C34878D82A}">
                    <a16:rowId xmlns:a16="http://schemas.microsoft.com/office/drawing/2014/main" val="1832366527"/>
                  </a:ext>
                </a:extLst>
              </a:tr>
              <a:tr h="0">
                <a:tc>
                  <a:txBody>
                    <a:bodyPr/>
                    <a:lstStyle/>
                    <a:p>
                      <a:pPr>
                        <a:buNone/>
                      </a:pPr>
                      <a:r>
                        <a:rPr lang="en-ZA" dirty="0"/>
                        <a:t>Department</a:t>
                      </a:r>
                      <a:endParaRPr lang="en-IN" dirty="0"/>
                    </a:p>
                  </a:txBody>
                  <a:tcPr anchor="ctr"/>
                </a:tc>
                <a:tc>
                  <a:txBody>
                    <a:bodyPr/>
                    <a:lstStyle/>
                    <a:p>
                      <a:pPr>
                        <a:buNone/>
                      </a:pPr>
                      <a:r>
                        <a:rPr lang="en-ZA" dirty="0"/>
                        <a:t>VARCHAR(100)</a:t>
                      </a:r>
                      <a:endParaRPr lang="en-IN" dirty="0"/>
                    </a:p>
                  </a:txBody>
                  <a:tcPr anchor="ctr"/>
                </a:tc>
                <a:tc>
                  <a:txBody>
                    <a:bodyPr/>
                    <a:lstStyle/>
                    <a:p>
                      <a:pPr>
                        <a:buNone/>
                      </a:pPr>
                      <a:r>
                        <a:rPr lang="en-ZA" dirty="0"/>
                        <a:t>__</a:t>
                      </a:r>
                      <a:endParaRPr lang="en-IN" dirty="0"/>
                    </a:p>
                  </a:txBody>
                  <a:tcPr anchor="ctr"/>
                </a:tc>
                <a:tc>
                  <a:txBody>
                    <a:bodyPr/>
                    <a:lstStyle/>
                    <a:p>
                      <a:pPr>
                        <a:buNone/>
                      </a:pPr>
                      <a:r>
                        <a:rPr lang="en-ZA" dirty="0"/>
                        <a:t>Faculty department</a:t>
                      </a:r>
                      <a:endParaRPr lang="en-IN" dirty="0"/>
                    </a:p>
                  </a:txBody>
                  <a:tcPr anchor="ctr"/>
                </a:tc>
                <a:extLst>
                  <a:ext uri="{0D108BD9-81ED-4DB2-BD59-A6C34878D82A}">
                    <a16:rowId xmlns:a16="http://schemas.microsoft.com/office/drawing/2014/main" val="2881987260"/>
                  </a:ext>
                </a:extLst>
              </a:tr>
              <a:tr h="365760">
                <a:tc>
                  <a:txBody>
                    <a:bodyPr/>
                    <a:lstStyle/>
                    <a:p>
                      <a:pPr>
                        <a:buNone/>
                      </a:pPr>
                      <a:r>
                        <a:rPr lang="en-ZA" dirty="0" err="1"/>
                        <a:t>Leave_type</a:t>
                      </a:r>
                      <a:endParaRPr lang="en-IN" dirty="0"/>
                    </a:p>
                  </a:txBody>
                  <a:tcPr anchor="ctr"/>
                </a:tc>
                <a:tc>
                  <a:txBody>
                    <a:bodyPr/>
                    <a:lstStyle/>
                    <a:p>
                      <a:pPr>
                        <a:buNone/>
                      </a:pPr>
                      <a:r>
                        <a:rPr lang="en-ZA" dirty="0"/>
                        <a:t>VARCHAR(100)</a:t>
                      </a:r>
                      <a:endParaRPr lang="en-IN" dirty="0"/>
                    </a:p>
                  </a:txBody>
                  <a:tcPr anchor="ctr"/>
                </a:tc>
                <a:tc>
                  <a:txBody>
                    <a:bodyPr/>
                    <a:lstStyle/>
                    <a:p>
                      <a:pPr>
                        <a:buNone/>
                      </a:pPr>
                      <a:r>
                        <a:rPr lang="en-ZA" dirty="0"/>
                        <a:t>__</a:t>
                      </a:r>
                      <a:endParaRPr lang="en-IN" dirty="0"/>
                    </a:p>
                  </a:txBody>
                  <a:tcPr anchor="ctr"/>
                </a:tc>
                <a:tc>
                  <a:txBody>
                    <a:bodyPr/>
                    <a:lstStyle/>
                    <a:p>
                      <a:pPr>
                        <a:buNone/>
                      </a:pPr>
                      <a:r>
                        <a:rPr lang="en-ZA" dirty="0"/>
                        <a:t>Type of leave</a:t>
                      </a:r>
                      <a:endParaRPr lang="en-IN" dirty="0"/>
                    </a:p>
                  </a:txBody>
                  <a:tcPr anchor="ctr"/>
                </a:tc>
                <a:extLst>
                  <a:ext uri="{0D108BD9-81ED-4DB2-BD59-A6C34878D82A}">
                    <a16:rowId xmlns:a16="http://schemas.microsoft.com/office/drawing/2014/main" val="2403197080"/>
                  </a:ext>
                </a:extLst>
              </a:tr>
              <a:tr h="304800">
                <a:tc>
                  <a:txBody>
                    <a:bodyPr/>
                    <a:lstStyle/>
                    <a:p>
                      <a:pPr>
                        <a:buNone/>
                      </a:pPr>
                      <a:r>
                        <a:rPr lang="en-ZA" dirty="0" err="1"/>
                        <a:t>Start_date</a:t>
                      </a:r>
                      <a:endParaRPr lang="en-IN" dirty="0"/>
                    </a:p>
                  </a:txBody>
                  <a:tcPr anchor="ctr"/>
                </a:tc>
                <a:tc>
                  <a:txBody>
                    <a:bodyPr/>
                    <a:lstStyle/>
                    <a:p>
                      <a:pPr>
                        <a:buNone/>
                      </a:pPr>
                      <a:r>
                        <a:rPr lang="en-ZA" dirty="0"/>
                        <a:t>Date</a:t>
                      </a:r>
                      <a:endParaRPr lang="en-IN" dirty="0"/>
                    </a:p>
                  </a:txBody>
                  <a:tcPr anchor="ctr"/>
                </a:tc>
                <a:tc>
                  <a:txBody>
                    <a:bodyPr/>
                    <a:lstStyle/>
                    <a:p>
                      <a:pPr>
                        <a:buNone/>
                      </a:pPr>
                      <a:r>
                        <a:rPr lang="en-ZA" dirty="0"/>
                        <a:t>__</a:t>
                      </a:r>
                      <a:endParaRPr lang="en-IN" dirty="0"/>
                    </a:p>
                  </a:txBody>
                  <a:tcPr anchor="ctr"/>
                </a:tc>
                <a:tc>
                  <a:txBody>
                    <a:bodyPr/>
                    <a:lstStyle/>
                    <a:p>
                      <a:pPr>
                        <a:buNone/>
                      </a:pPr>
                      <a:r>
                        <a:rPr lang="en-ZA" dirty="0"/>
                        <a:t>Starting Date</a:t>
                      </a:r>
                      <a:endParaRPr lang="en-IN" dirty="0"/>
                    </a:p>
                  </a:txBody>
                  <a:tcPr anchor="ctr"/>
                </a:tc>
                <a:extLst>
                  <a:ext uri="{0D108BD9-81ED-4DB2-BD59-A6C34878D82A}">
                    <a16:rowId xmlns:a16="http://schemas.microsoft.com/office/drawing/2014/main" val="731648407"/>
                  </a:ext>
                </a:extLst>
              </a:tr>
              <a:tr h="243840">
                <a:tc>
                  <a:txBody>
                    <a:bodyPr/>
                    <a:lstStyle/>
                    <a:p>
                      <a:pPr>
                        <a:buNone/>
                      </a:pPr>
                      <a:r>
                        <a:rPr lang="en-ZA" dirty="0" err="1"/>
                        <a:t>End_date</a:t>
                      </a:r>
                      <a:endParaRPr lang="en-IN" dirty="0"/>
                    </a:p>
                  </a:txBody>
                  <a:tcPr anchor="ctr"/>
                </a:tc>
                <a:tc>
                  <a:txBody>
                    <a:bodyPr/>
                    <a:lstStyle/>
                    <a:p>
                      <a:pPr>
                        <a:buNone/>
                      </a:pPr>
                      <a:r>
                        <a:rPr lang="en-ZA" dirty="0"/>
                        <a:t>Date</a:t>
                      </a:r>
                      <a:endParaRPr lang="en-IN" dirty="0"/>
                    </a:p>
                  </a:txBody>
                  <a:tcPr anchor="ctr"/>
                </a:tc>
                <a:tc>
                  <a:txBody>
                    <a:bodyPr/>
                    <a:lstStyle/>
                    <a:p>
                      <a:pPr>
                        <a:buNone/>
                      </a:pPr>
                      <a:r>
                        <a:rPr lang="en-ZA" dirty="0"/>
                        <a:t>__</a:t>
                      </a:r>
                      <a:endParaRPr lang="en-IN" dirty="0"/>
                    </a:p>
                  </a:txBody>
                  <a:tcPr anchor="ctr"/>
                </a:tc>
                <a:tc>
                  <a:txBody>
                    <a:bodyPr/>
                    <a:lstStyle/>
                    <a:p>
                      <a:pPr>
                        <a:buNone/>
                      </a:pPr>
                      <a:r>
                        <a:rPr lang="en-ZA" dirty="0"/>
                        <a:t>Ending Date</a:t>
                      </a:r>
                      <a:endParaRPr lang="en-IN" dirty="0"/>
                    </a:p>
                  </a:txBody>
                  <a:tcPr anchor="ctr"/>
                </a:tc>
                <a:extLst>
                  <a:ext uri="{0D108BD9-81ED-4DB2-BD59-A6C34878D82A}">
                    <a16:rowId xmlns:a16="http://schemas.microsoft.com/office/drawing/2014/main" val="134691257"/>
                  </a:ext>
                </a:extLst>
              </a:tr>
              <a:tr h="335280">
                <a:tc>
                  <a:txBody>
                    <a:bodyPr/>
                    <a:lstStyle/>
                    <a:p>
                      <a:pPr>
                        <a:buNone/>
                      </a:pPr>
                      <a:r>
                        <a:rPr lang="en-ZA" dirty="0"/>
                        <a:t>Reason</a:t>
                      </a:r>
                      <a:endParaRPr lang="en-IN" dirty="0"/>
                    </a:p>
                  </a:txBody>
                  <a:tcPr anchor="ctr"/>
                </a:tc>
                <a:tc>
                  <a:txBody>
                    <a:bodyPr/>
                    <a:lstStyle/>
                    <a:p>
                      <a:pPr>
                        <a:buNone/>
                      </a:pPr>
                      <a:r>
                        <a:rPr lang="en-ZA" dirty="0"/>
                        <a:t>Text</a:t>
                      </a:r>
                      <a:endParaRPr lang="en-IN" dirty="0"/>
                    </a:p>
                  </a:txBody>
                  <a:tcPr anchor="ctr"/>
                </a:tc>
                <a:tc>
                  <a:txBody>
                    <a:bodyPr/>
                    <a:lstStyle/>
                    <a:p>
                      <a:pPr>
                        <a:buNone/>
                      </a:pPr>
                      <a:r>
                        <a:rPr lang="en-ZA" dirty="0"/>
                        <a:t>__</a:t>
                      </a:r>
                      <a:endParaRPr lang="en-IN" dirty="0"/>
                    </a:p>
                  </a:txBody>
                  <a:tcPr anchor="ctr"/>
                </a:tc>
                <a:tc>
                  <a:txBody>
                    <a:bodyPr/>
                    <a:lstStyle/>
                    <a:p>
                      <a:pPr>
                        <a:buNone/>
                      </a:pPr>
                      <a:r>
                        <a:rPr lang="en-ZA" dirty="0"/>
                        <a:t>Reason of leave</a:t>
                      </a:r>
                      <a:endParaRPr lang="en-IN" dirty="0"/>
                    </a:p>
                  </a:txBody>
                  <a:tcPr anchor="ctr"/>
                </a:tc>
                <a:extLst>
                  <a:ext uri="{0D108BD9-81ED-4DB2-BD59-A6C34878D82A}">
                    <a16:rowId xmlns:a16="http://schemas.microsoft.com/office/drawing/2014/main" val="1525923985"/>
                  </a:ext>
                </a:extLst>
              </a:tr>
              <a:tr h="204349">
                <a:tc>
                  <a:txBody>
                    <a:bodyPr/>
                    <a:lstStyle/>
                    <a:p>
                      <a:pPr>
                        <a:buNone/>
                      </a:pPr>
                      <a:r>
                        <a:rPr lang="en-ZA" dirty="0" err="1"/>
                        <a:t>Coverage_plan</a:t>
                      </a:r>
                      <a:endParaRPr lang="en-IN" dirty="0"/>
                    </a:p>
                  </a:txBody>
                  <a:tcPr anchor="ctr"/>
                </a:tc>
                <a:tc>
                  <a:txBody>
                    <a:bodyPr/>
                    <a:lstStyle/>
                    <a:p>
                      <a:pPr>
                        <a:buNone/>
                      </a:pPr>
                      <a:r>
                        <a:rPr lang="en-ZA" dirty="0"/>
                        <a:t>Text</a:t>
                      </a:r>
                      <a:endParaRPr lang="en-IN" dirty="0"/>
                    </a:p>
                  </a:txBody>
                  <a:tcPr anchor="ctr"/>
                </a:tc>
                <a:tc>
                  <a:txBody>
                    <a:bodyPr/>
                    <a:lstStyle/>
                    <a:p>
                      <a:pPr>
                        <a:buNone/>
                      </a:pPr>
                      <a:r>
                        <a:rPr lang="en-ZA" dirty="0"/>
                        <a:t>__</a:t>
                      </a:r>
                      <a:endParaRPr lang="en-IN" dirty="0"/>
                    </a:p>
                  </a:txBody>
                  <a:tcPr anchor="ctr"/>
                </a:tc>
                <a:tc>
                  <a:txBody>
                    <a:bodyPr/>
                    <a:lstStyle/>
                    <a:p>
                      <a:pPr>
                        <a:buNone/>
                      </a:pPr>
                      <a:r>
                        <a:rPr lang="en-ZA" dirty="0"/>
                        <a:t>Faculty to cover in </a:t>
                      </a:r>
                      <a:endParaRPr lang="en-IN" dirty="0"/>
                    </a:p>
                  </a:txBody>
                  <a:tcPr anchor="ctr"/>
                </a:tc>
                <a:extLst>
                  <a:ext uri="{0D108BD9-81ED-4DB2-BD59-A6C34878D82A}">
                    <a16:rowId xmlns:a16="http://schemas.microsoft.com/office/drawing/2014/main" val="3838673942"/>
                  </a:ext>
                </a:extLst>
              </a:tr>
              <a:tr h="320040">
                <a:tc>
                  <a:txBody>
                    <a:bodyPr/>
                    <a:lstStyle/>
                    <a:p>
                      <a:pPr>
                        <a:buNone/>
                      </a:pPr>
                      <a:r>
                        <a:rPr lang="en-ZA" dirty="0"/>
                        <a:t>Status</a:t>
                      </a:r>
                      <a:endParaRPr lang="en-IN" dirty="0"/>
                    </a:p>
                  </a:txBody>
                  <a:tcPr anchor="ctr"/>
                </a:tc>
                <a:tc>
                  <a:txBody>
                    <a:bodyPr/>
                    <a:lstStyle/>
                    <a:p>
                      <a:pPr>
                        <a:buNone/>
                      </a:pPr>
                      <a:r>
                        <a:rPr lang="en-ZA" dirty="0"/>
                        <a:t>VARCHAR(20)</a:t>
                      </a:r>
                      <a:endParaRPr lang="en-IN" dirty="0"/>
                    </a:p>
                  </a:txBody>
                  <a:tcPr anchor="ctr"/>
                </a:tc>
                <a:tc>
                  <a:txBody>
                    <a:bodyPr/>
                    <a:lstStyle/>
                    <a:p>
                      <a:pPr>
                        <a:buNone/>
                      </a:pPr>
                      <a:r>
                        <a:rPr lang="en-ZA" dirty="0"/>
                        <a:t>__</a:t>
                      </a:r>
                      <a:endParaRPr lang="en-IN" dirty="0"/>
                    </a:p>
                  </a:txBody>
                  <a:tcPr anchor="ctr"/>
                </a:tc>
                <a:tc>
                  <a:txBody>
                    <a:bodyPr/>
                    <a:lstStyle/>
                    <a:p>
                      <a:pPr>
                        <a:buNone/>
                      </a:pPr>
                      <a:r>
                        <a:rPr lang="en-ZA" dirty="0"/>
                        <a:t>Status of the leave</a:t>
                      </a:r>
                      <a:endParaRPr lang="en-IN" dirty="0"/>
                    </a:p>
                  </a:txBody>
                  <a:tcPr anchor="ctr"/>
                </a:tc>
                <a:extLst>
                  <a:ext uri="{0D108BD9-81ED-4DB2-BD59-A6C34878D82A}">
                    <a16:rowId xmlns:a16="http://schemas.microsoft.com/office/drawing/2014/main" val="1043775603"/>
                  </a:ext>
                </a:extLst>
              </a:tr>
              <a:tr h="417709">
                <a:tc>
                  <a:txBody>
                    <a:bodyPr/>
                    <a:lstStyle/>
                    <a:p>
                      <a:pPr>
                        <a:buNone/>
                      </a:pPr>
                      <a:r>
                        <a:rPr lang="en-ZA" dirty="0" err="1"/>
                        <a:t>Submitted_at</a:t>
                      </a:r>
                      <a:endParaRPr lang="en-IN" dirty="0"/>
                    </a:p>
                  </a:txBody>
                  <a:tcPr anchor="ctr"/>
                </a:tc>
                <a:tc>
                  <a:txBody>
                    <a:bodyPr/>
                    <a:lstStyle/>
                    <a:p>
                      <a:pPr>
                        <a:buNone/>
                      </a:pPr>
                      <a:r>
                        <a:rPr lang="en-ZA" dirty="0"/>
                        <a:t>Datetime</a:t>
                      </a:r>
                      <a:endParaRPr lang="en-IN" dirty="0"/>
                    </a:p>
                  </a:txBody>
                  <a:tcPr anchor="ctr"/>
                </a:tc>
                <a:tc>
                  <a:txBody>
                    <a:bodyPr/>
                    <a:lstStyle/>
                    <a:p>
                      <a:pPr>
                        <a:buNone/>
                      </a:pPr>
                      <a:r>
                        <a:rPr lang="en-ZA" dirty="0"/>
                        <a:t>__</a:t>
                      </a:r>
                      <a:endParaRPr lang="en-IN" dirty="0"/>
                    </a:p>
                  </a:txBody>
                  <a:tcPr anchor="ctr"/>
                </a:tc>
                <a:tc>
                  <a:txBody>
                    <a:bodyPr/>
                    <a:lstStyle/>
                    <a:p>
                      <a:pPr>
                        <a:buNone/>
                      </a:pPr>
                      <a:r>
                        <a:rPr lang="en-ZA" dirty="0"/>
                        <a:t>Time submitted</a:t>
                      </a:r>
                      <a:endParaRPr lang="en-IN" dirty="0"/>
                    </a:p>
                  </a:txBody>
                  <a:tcPr anchor="ctr"/>
                </a:tc>
                <a:extLst>
                  <a:ext uri="{0D108BD9-81ED-4DB2-BD59-A6C34878D82A}">
                    <a16:rowId xmlns:a16="http://schemas.microsoft.com/office/drawing/2014/main" val="113329321"/>
                  </a:ext>
                </a:extLst>
              </a:tr>
              <a:tr h="417709">
                <a:tc>
                  <a:txBody>
                    <a:bodyPr/>
                    <a:lstStyle/>
                    <a:p>
                      <a:pPr>
                        <a:buNone/>
                      </a:pPr>
                      <a:r>
                        <a:rPr lang="en-ZA" dirty="0" err="1"/>
                        <a:t>Admin_comment</a:t>
                      </a:r>
                      <a:endParaRPr lang="en-IN" dirty="0"/>
                    </a:p>
                  </a:txBody>
                  <a:tcPr anchor="ctr"/>
                </a:tc>
                <a:tc>
                  <a:txBody>
                    <a:bodyPr/>
                    <a:lstStyle/>
                    <a:p>
                      <a:pPr>
                        <a:buNone/>
                      </a:pPr>
                      <a:r>
                        <a:rPr lang="en-ZA" dirty="0"/>
                        <a:t>Text</a:t>
                      </a:r>
                      <a:endParaRPr lang="en-IN" dirty="0"/>
                    </a:p>
                  </a:txBody>
                  <a:tcPr anchor="ctr"/>
                </a:tc>
                <a:tc>
                  <a:txBody>
                    <a:bodyPr/>
                    <a:lstStyle/>
                    <a:p>
                      <a:pPr>
                        <a:buNone/>
                      </a:pPr>
                      <a:r>
                        <a:rPr lang="en-ZA" dirty="0"/>
                        <a:t>__</a:t>
                      </a:r>
                      <a:endParaRPr lang="en-IN" dirty="0"/>
                    </a:p>
                  </a:txBody>
                  <a:tcPr anchor="ctr"/>
                </a:tc>
                <a:tc>
                  <a:txBody>
                    <a:bodyPr/>
                    <a:lstStyle/>
                    <a:p>
                      <a:pPr>
                        <a:buNone/>
                      </a:pPr>
                      <a:r>
                        <a:rPr lang="en-ZA" dirty="0"/>
                        <a:t>Admin reply</a:t>
                      </a:r>
                      <a:endParaRPr lang="en-IN" dirty="0"/>
                    </a:p>
                  </a:txBody>
                  <a:tcPr anchor="ctr"/>
                </a:tc>
                <a:extLst>
                  <a:ext uri="{0D108BD9-81ED-4DB2-BD59-A6C34878D82A}">
                    <a16:rowId xmlns:a16="http://schemas.microsoft.com/office/drawing/2014/main" val="1485476876"/>
                  </a:ext>
                </a:extLst>
              </a:tr>
              <a:tr h="417709">
                <a:tc>
                  <a:txBody>
                    <a:bodyPr/>
                    <a:lstStyle/>
                    <a:p>
                      <a:pPr>
                        <a:buNone/>
                      </a:pPr>
                      <a:r>
                        <a:rPr lang="en-ZA" dirty="0" err="1"/>
                        <a:t>Reviewed_by</a:t>
                      </a:r>
                      <a:endParaRPr lang="en-IN" dirty="0"/>
                    </a:p>
                  </a:txBody>
                  <a:tcPr anchor="ctr"/>
                </a:tc>
                <a:tc>
                  <a:txBody>
                    <a:bodyPr/>
                    <a:lstStyle/>
                    <a:p>
                      <a:pPr>
                        <a:buNone/>
                      </a:pPr>
                      <a:r>
                        <a:rPr lang="en-ZA" dirty="0"/>
                        <a:t>VARCHAR(100)</a:t>
                      </a:r>
                      <a:endParaRPr lang="en-IN" dirty="0"/>
                    </a:p>
                  </a:txBody>
                  <a:tcPr anchor="ctr"/>
                </a:tc>
                <a:tc>
                  <a:txBody>
                    <a:bodyPr/>
                    <a:lstStyle/>
                    <a:p>
                      <a:pPr>
                        <a:buNone/>
                      </a:pPr>
                      <a:r>
                        <a:rPr lang="en-ZA" dirty="0"/>
                        <a:t>__</a:t>
                      </a:r>
                      <a:endParaRPr lang="en-IN" dirty="0"/>
                    </a:p>
                  </a:txBody>
                  <a:tcPr anchor="ctr"/>
                </a:tc>
                <a:tc>
                  <a:txBody>
                    <a:bodyPr/>
                    <a:lstStyle/>
                    <a:p>
                      <a:pPr>
                        <a:buNone/>
                      </a:pPr>
                      <a:r>
                        <a:rPr lang="en-ZA" dirty="0"/>
                        <a:t>Name of admin</a:t>
                      </a:r>
                      <a:endParaRPr lang="en-IN" dirty="0"/>
                    </a:p>
                  </a:txBody>
                  <a:tcPr anchor="ctr"/>
                </a:tc>
                <a:extLst>
                  <a:ext uri="{0D108BD9-81ED-4DB2-BD59-A6C34878D82A}">
                    <a16:rowId xmlns:a16="http://schemas.microsoft.com/office/drawing/2014/main" val="2240322716"/>
                  </a:ext>
                </a:extLst>
              </a:tr>
              <a:tr h="417709">
                <a:tc>
                  <a:txBody>
                    <a:bodyPr/>
                    <a:lstStyle/>
                    <a:p>
                      <a:pPr>
                        <a:buNone/>
                      </a:pPr>
                      <a:r>
                        <a:rPr lang="en-ZA" dirty="0" err="1"/>
                        <a:t>Reviewed_at</a:t>
                      </a:r>
                      <a:endParaRPr lang="en-IN" dirty="0"/>
                    </a:p>
                  </a:txBody>
                  <a:tcPr anchor="ctr"/>
                </a:tc>
                <a:tc>
                  <a:txBody>
                    <a:bodyPr/>
                    <a:lstStyle/>
                    <a:p>
                      <a:pPr>
                        <a:buNone/>
                      </a:pPr>
                      <a:r>
                        <a:rPr lang="en-ZA" dirty="0"/>
                        <a:t>Datetime</a:t>
                      </a:r>
                      <a:endParaRPr lang="en-IN" dirty="0"/>
                    </a:p>
                  </a:txBody>
                  <a:tcPr anchor="ctr"/>
                </a:tc>
                <a:tc>
                  <a:txBody>
                    <a:bodyPr/>
                    <a:lstStyle/>
                    <a:p>
                      <a:pPr>
                        <a:buNone/>
                      </a:pPr>
                      <a:r>
                        <a:rPr lang="en-ZA" dirty="0"/>
                        <a:t>__</a:t>
                      </a:r>
                      <a:endParaRPr lang="en-IN" dirty="0"/>
                    </a:p>
                  </a:txBody>
                  <a:tcPr anchor="ctr"/>
                </a:tc>
                <a:tc>
                  <a:txBody>
                    <a:bodyPr/>
                    <a:lstStyle/>
                    <a:p>
                      <a:pPr>
                        <a:buNone/>
                      </a:pPr>
                      <a:r>
                        <a:rPr lang="en-ZA" dirty="0"/>
                        <a:t>Time of review</a:t>
                      </a:r>
                      <a:endParaRPr lang="en-IN" dirty="0"/>
                    </a:p>
                  </a:txBody>
                  <a:tcPr anchor="ctr"/>
                </a:tc>
                <a:extLst>
                  <a:ext uri="{0D108BD9-81ED-4DB2-BD59-A6C34878D82A}">
                    <a16:rowId xmlns:a16="http://schemas.microsoft.com/office/drawing/2014/main" val="495982582"/>
                  </a:ext>
                </a:extLst>
              </a:tr>
            </a:tbl>
          </a:graphicData>
        </a:graphic>
      </p:graphicFrame>
    </p:spTree>
    <p:extLst>
      <p:ext uri="{BB962C8B-B14F-4D97-AF65-F5344CB8AC3E}">
        <p14:creationId xmlns:p14="http://schemas.microsoft.com/office/powerpoint/2010/main" val="1327093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271227-37A8-BD2E-DA5F-9D1409CD539E}"/>
              </a:ext>
            </a:extLst>
          </p:cNvPr>
          <p:cNvSpPr txBox="1"/>
          <p:nvPr/>
        </p:nvSpPr>
        <p:spPr>
          <a:xfrm>
            <a:off x="2363696" y="435124"/>
            <a:ext cx="7924801" cy="539378"/>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grpSp>
        <p:nvGrpSpPr>
          <p:cNvPr id="5" name="object 3">
            <a:extLst>
              <a:ext uri="{FF2B5EF4-FFF2-40B4-BE49-F238E27FC236}">
                <a16:creationId xmlns:a16="http://schemas.microsoft.com/office/drawing/2014/main" id="{21ABBE52-8710-4E6B-00A1-6AE2E264A905}"/>
              </a:ext>
            </a:extLst>
          </p:cNvPr>
          <p:cNvGrpSpPr/>
          <p:nvPr/>
        </p:nvGrpSpPr>
        <p:grpSpPr>
          <a:xfrm>
            <a:off x="2590800" y="-143301"/>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3953B3A5-B246-55AD-515B-436ED9F0D042}"/>
              </a:ext>
            </a:extLst>
          </p:cNvPr>
          <p:cNvSpPr txBox="1">
            <a:spLocks noGrp="1"/>
          </p:cNvSpPr>
          <p:nvPr>
            <p:ph type="title"/>
          </p:nvPr>
        </p:nvSpPr>
        <p:spPr>
          <a:xfrm>
            <a:off x="3945255" y="128194"/>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DESIGN</a:t>
            </a:r>
          </a:p>
        </p:txBody>
      </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2E698EF3-6CC5-CB2B-B3DF-1F2230442C23}"/>
              </a:ext>
            </a:extLst>
          </p:cNvPr>
          <p:cNvSpPr txBox="1"/>
          <p:nvPr/>
        </p:nvSpPr>
        <p:spPr>
          <a:xfrm>
            <a:off x="849949" y="1048136"/>
            <a:ext cx="8610599" cy="7602081"/>
          </a:xfrm>
          <a:prstGeom prst="rect">
            <a:avLst/>
          </a:prstGeom>
          <a:noFill/>
        </p:spPr>
        <p:txBody>
          <a:bodyPr wrap="square">
            <a:spAutoFit/>
          </a:bodyPr>
          <a:lstStyle/>
          <a:p>
            <a:pPr marL="285750" indent="-285750">
              <a:buFont typeface="Arial" panose="020B0604020202020204" pitchFamily="34" charset="0"/>
              <a:buChar char="•"/>
            </a:pPr>
            <a:r>
              <a:rPr lang="en-US" sz="1800" b="1" dirty="0"/>
              <a:t>User Module</a:t>
            </a:r>
          </a:p>
          <a:p>
            <a:pPr lvl="0"/>
            <a:r>
              <a:rPr lang="en-US" sz="1800" dirty="0"/>
              <a:t>Handles user registration and login for faculty and administrators </a:t>
            </a:r>
          </a:p>
          <a:p>
            <a:pPr lvl="0"/>
            <a:r>
              <a:rPr lang="en-US" sz="1800" dirty="0"/>
              <a:t>Manages secure authentication using JWT </a:t>
            </a:r>
          </a:p>
          <a:p>
            <a:pPr lvl="0"/>
            <a:r>
              <a:rPr lang="en-US" sz="1800" dirty="0"/>
              <a:t>Stores and retrieves user profile details such as name, department, and role</a:t>
            </a:r>
          </a:p>
          <a:p>
            <a:pPr lvl="0"/>
            <a:r>
              <a:rPr lang="en-US" sz="1800" dirty="0"/>
              <a:t> </a:t>
            </a:r>
          </a:p>
          <a:p>
            <a:pPr marL="285750" indent="-285750">
              <a:buFont typeface="Arial" panose="020B0604020202020204" pitchFamily="34" charset="0"/>
              <a:buChar char="•"/>
            </a:pPr>
            <a:r>
              <a:rPr lang="en-US" sz="1800" b="1" dirty="0"/>
              <a:t>Leave Request Module</a:t>
            </a:r>
            <a:endParaRPr lang="en-US" sz="1800" dirty="0"/>
          </a:p>
          <a:p>
            <a:pPr lvl="0"/>
            <a:r>
              <a:rPr lang="en-US" sz="1800" dirty="0"/>
              <a:t>Allows faculty members to apply for leave </a:t>
            </a:r>
          </a:p>
          <a:p>
            <a:pPr lvl="0"/>
            <a:r>
              <a:rPr lang="en-US" sz="1800" dirty="0"/>
              <a:t>Enables editing or canceling leave applications </a:t>
            </a:r>
          </a:p>
          <a:p>
            <a:pPr lvl="0"/>
            <a:r>
              <a:rPr lang="en-US" sz="1800" dirty="0"/>
              <a:t>Stores leave request details such as dates, type, and reason </a:t>
            </a:r>
          </a:p>
          <a:p>
            <a:r>
              <a:rPr lang="en-US" sz="1800" dirty="0"/>
              <a:t> </a:t>
            </a:r>
          </a:p>
          <a:p>
            <a:pPr marL="285750" indent="-285750">
              <a:buFont typeface="Arial" panose="020B0604020202020204" pitchFamily="34" charset="0"/>
              <a:buChar char="•"/>
            </a:pPr>
            <a:r>
              <a:rPr lang="en-US" sz="1800" b="1" dirty="0"/>
              <a:t>Leave Approval Module</a:t>
            </a:r>
          </a:p>
          <a:p>
            <a:pPr lvl="0"/>
            <a:r>
              <a:rPr lang="en-US" sz="1800" dirty="0"/>
              <a:t>Allows admin/HOD to review leave requests </a:t>
            </a:r>
          </a:p>
          <a:p>
            <a:pPr lvl="0"/>
            <a:r>
              <a:rPr lang="en-US" sz="1800" dirty="0"/>
              <a:t>Approves or rejects applications with remarks </a:t>
            </a:r>
          </a:p>
          <a:p>
            <a:pPr lvl="0"/>
            <a:r>
              <a:rPr lang="en-US" sz="1800" dirty="0"/>
              <a:t>Updates the status of leave requests </a:t>
            </a:r>
          </a:p>
          <a:p>
            <a:pPr lvl="0"/>
            <a:endParaRPr lang="en-US" sz="1800" dirty="0"/>
          </a:p>
          <a:p>
            <a:pPr marL="285750" indent="-285750">
              <a:buFont typeface="Arial" panose="020B0604020202020204" pitchFamily="34" charset="0"/>
              <a:buChar char="•"/>
            </a:pPr>
            <a:r>
              <a:rPr lang="en-US" sz="1800" b="1" dirty="0"/>
              <a:t>Leave Management Module</a:t>
            </a:r>
            <a:endParaRPr lang="en-US" sz="1800" dirty="0"/>
          </a:p>
          <a:p>
            <a:pPr lvl="0"/>
            <a:r>
              <a:rPr lang="en-US" sz="1800" dirty="0"/>
              <a:t>Maintains leave records and history </a:t>
            </a:r>
          </a:p>
          <a:p>
            <a:pPr lvl="0"/>
            <a:r>
              <a:rPr lang="en-US" sz="1800" dirty="0"/>
              <a:t>Tracks leave balance for each faculty member </a:t>
            </a:r>
          </a:p>
          <a:p>
            <a:pPr lvl="0"/>
            <a:r>
              <a:rPr lang="en-US" sz="1800" dirty="0"/>
              <a:t>Provides reports on leave usage</a:t>
            </a:r>
          </a:p>
          <a:p>
            <a:r>
              <a:rPr lang="en-US" sz="1800" dirty="0"/>
              <a:t> </a:t>
            </a:r>
          </a:p>
          <a:p>
            <a:pPr marL="285750" indent="-285750">
              <a:buFont typeface="Arial" panose="020B0604020202020204" pitchFamily="34" charset="0"/>
              <a:buChar char="•"/>
            </a:pPr>
            <a:r>
              <a:rPr lang="en-US" sz="1800" b="1" dirty="0"/>
              <a:t>Notification Module</a:t>
            </a:r>
            <a:endParaRPr lang="en-US" sz="1800" dirty="0"/>
          </a:p>
          <a:p>
            <a:pPr lvl="0"/>
            <a:r>
              <a:rPr lang="en-US" sz="1800" dirty="0"/>
              <a:t>Sends notifications for leave application status (approved/rejected) </a:t>
            </a:r>
          </a:p>
          <a:p>
            <a:pPr lvl="0"/>
            <a:r>
              <a:rPr lang="en-US" sz="1800" dirty="0"/>
              <a:t>Alerts users about new requests or updates </a:t>
            </a:r>
          </a:p>
          <a:p>
            <a:pPr lvl="0"/>
            <a:r>
              <a:rPr lang="en-US" sz="1800" dirty="0"/>
              <a:t>Improves communication between faculty and administration </a:t>
            </a:r>
          </a:p>
          <a:p>
            <a:br>
              <a:rPr lang="en-US" sz="1800" dirty="0"/>
            </a:br>
            <a:endParaRPr lang="en-US" sz="1800" dirty="0"/>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495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06B09BF8-939E-6C76-4342-E04259FF568B}"/>
              </a:ext>
            </a:extLst>
          </p:cNvPr>
          <p:cNvSpPr txBox="1"/>
          <p:nvPr/>
        </p:nvSpPr>
        <p:spPr>
          <a:xfrm>
            <a:off x="990600" y="1449777"/>
            <a:ext cx="8763000" cy="1448923"/>
          </a:xfrm>
          <a:prstGeom prst="rect">
            <a:avLst/>
          </a:prstGeom>
          <a:noFill/>
        </p:spPr>
        <p:txBody>
          <a:bodyPr wrap="square">
            <a:spAutoFit/>
          </a:bodyPr>
          <a:lstStyle/>
          <a:p>
            <a:pPr>
              <a:lnSpc>
                <a:spcPct val="115000"/>
              </a:lnSpc>
              <a:spcAft>
                <a:spcPts val="800"/>
              </a:spcAft>
              <a:buNone/>
            </a:pPr>
            <a:r>
              <a:rPr lang="en-IN" b="1" u="sng" kern="100" dirty="0">
                <a:latin typeface="Times New Roman" panose="02020603050405020304" pitchFamily="18" charset="0"/>
                <a:ea typeface="Calibri" panose="020F0502020204030204" pitchFamily="34" charset="0"/>
                <a:cs typeface="Gautami" panose="020B0502040204020203" pitchFamily="34" charset="0"/>
              </a:rPr>
              <a:t>Create Account </a:t>
            </a:r>
            <a:r>
              <a:rPr lang="en-IN" sz="1800" b="1" u="sng" kern="100" dirty="0">
                <a:effectLst/>
                <a:latin typeface="Times New Roman" panose="02020603050405020304" pitchFamily="18" charset="0"/>
                <a:ea typeface="Calibri" panose="020F0502020204030204" pitchFamily="34" charset="0"/>
                <a:cs typeface="Gautami" panose="020B0502040204020203" pitchFamily="34" charset="0"/>
              </a:rPr>
              <a:t>window: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nSpc>
                <a:spcPct val="115000"/>
              </a:lnSpc>
              <a:spcAft>
                <a:spcPts val="800"/>
              </a:spcAft>
              <a:buNone/>
            </a:pPr>
            <a:r>
              <a:rPr lang="en-IN" sz="1800" b="1" u="none" strike="noStrike" kern="100" dirty="0">
                <a:effectLst/>
                <a:latin typeface="Times New Roman" panose="02020603050405020304" pitchFamily="18" charset="0"/>
                <a:ea typeface="Calibri" panose="020F0502020204030204" pitchFamily="34" charset="0"/>
                <a:cs typeface="Gautami" panose="020B0502040204020203" pitchFamily="34" charset="0"/>
              </a:rPr>
              <a:t> </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This window allows authorized users to enter their </a:t>
            </a:r>
            <a:r>
              <a:rPr lang="en-IN" kern="100" dirty="0">
                <a:latin typeface="Times New Roman" panose="02020603050405020304" pitchFamily="18" charset="0"/>
                <a:ea typeface="Calibri" panose="020F0502020204030204" pitchFamily="34" charset="0"/>
                <a:cs typeface="Gautami" panose="020B0502040204020203" pitchFamily="34" charset="0"/>
              </a:rPr>
              <a:t> details </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to create their accounts by putting respective details which will be used for login purposes to access the Faculty Leave Management System.</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12" name="Image 5">
            <a:extLst>
              <a:ext uri="{FF2B5EF4-FFF2-40B4-BE49-F238E27FC236}">
                <a16:creationId xmlns:a16="http://schemas.microsoft.com/office/drawing/2014/main" id="{C7986E9E-1769-177A-5C6F-5C9EBE61297B}"/>
              </a:ext>
            </a:extLst>
          </p:cNvPr>
          <p:cNvPicPr/>
          <p:nvPr/>
        </p:nvPicPr>
        <p:blipFill>
          <a:blip r:embed="rId7" cstate="print">
            <a:extLst>
              <a:ext uri="{28A0092B-C50C-407E-A947-70E740481C1C}">
                <a14:useLocalDpi xmlns:a14="http://schemas.microsoft.com/office/drawing/2010/main" val="0"/>
              </a:ext>
            </a:extLst>
          </a:blip>
          <a:stretch>
            <a:fillRect/>
          </a:stretch>
        </p:blipFill>
        <p:spPr>
          <a:xfrm>
            <a:off x="2362199" y="2989069"/>
            <a:ext cx="5105401" cy="4350738"/>
          </a:xfrm>
          <a:prstGeom prst="rect">
            <a:avLst/>
          </a:prstGeom>
        </p:spPr>
      </p:pic>
    </p:spTree>
    <p:extLst>
      <p:ext uri="{BB962C8B-B14F-4D97-AF65-F5344CB8AC3E}">
        <p14:creationId xmlns:p14="http://schemas.microsoft.com/office/powerpoint/2010/main" val="2514269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FA292-9EA7-7437-69CE-D089B7A52E6B}"/>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F3228901-99B9-7A23-0CE1-419D8EAFFA5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ACBECCE9-24F7-1F85-58EB-35CA09AF762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36D1EAF-8C26-4820-9292-8E067CDB713B}"/>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5AC38C9C-A4AB-9551-EE31-7C9DDE47F005}"/>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F3231F5B-D7C6-6C52-4B78-A27BA5A797F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68C2BB87-3970-7B2C-87D2-E8459B134D46}"/>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E8CD78C6-E348-7EB0-19FF-EB0BA8CC9E92}"/>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443BEEDA-56D9-6B66-92EE-D28BB724757E}"/>
              </a:ext>
            </a:extLst>
          </p:cNvPr>
          <p:cNvSpPr txBox="1"/>
          <p:nvPr/>
        </p:nvSpPr>
        <p:spPr>
          <a:xfrm>
            <a:off x="990600" y="1449777"/>
            <a:ext cx="8763000" cy="1130374"/>
          </a:xfrm>
          <a:prstGeom prst="rect">
            <a:avLst/>
          </a:prstGeom>
          <a:noFill/>
        </p:spPr>
        <p:txBody>
          <a:bodyPr wrap="square">
            <a:spAutoFit/>
          </a:bodyPr>
          <a:lstStyle/>
          <a:p>
            <a:pPr>
              <a:lnSpc>
                <a:spcPct val="115000"/>
              </a:lnSpc>
              <a:spcAft>
                <a:spcPts val="800"/>
              </a:spcAft>
              <a:buNone/>
            </a:pPr>
            <a:r>
              <a:rPr lang="en-IN" sz="1800" b="1" u="sng" kern="100" dirty="0">
                <a:effectLst/>
                <a:latin typeface="Times New Roman" panose="02020603050405020304" pitchFamily="18" charset="0"/>
                <a:ea typeface="Calibri" panose="020F0502020204030204" pitchFamily="34" charset="0"/>
                <a:cs typeface="Gautami" panose="020B0502040204020203" pitchFamily="34" charset="0"/>
              </a:rPr>
              <a:t>Login window: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nSpc>
                <a:spcPct val="115000"/>
              </a:lnSpc>
              <a:spcAft>
                <a:spcPts val="800"/>
              </a:spcAft>
              <a:buNone/>
            </a:pPr>
            <a:r>
              <a:rPr lang="en-IN" sz="1800" b="1" u="none" strike="noStrike" kern="100" dirty="0">
                <a:effectLst/>
                <a:latin typeface="Times New Roman" panose="02020603050405020304" pitchFamily="18" charset="0"/>
                <a:ea typeface="Calibri" panose="020F0502020204030204" pitchFamily="34" charset="0"/>
                <a:cs typeface="Gautami" panose="020B0502040204020203" pitchFamily="34" charset="0"/>
              </a:rPr>
              <a:t> </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This window allows authorized users to enter their username and password to access the Employee Management System.</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2" name="Image 6">
            <a:extLst>
              <a:ext uri="{FF2B5EF4-FFF2-40B4-BE49-F238E27FC236}">
                <a16:creationId xmlns:a16="http://schemas.microsoft.com/office/drawing/2014/main" id="{CBD9CB95-F183-0F23-E380-DD4D9543B8A4}"/>
              </a:ext>
            </a:extLst>
          </p:cNvPr>
          <p:cNvPicPr/>
          <p:nvPr/>
        </p:nvPicPr>
        <p:blipFill>
          <a:blip r:embed="rId7" cstate="print">
            <a:extLst>
              <a:ext uri="{28A0092B-C50C-407E-A947-70E740481C1C}">
                <a14:useLocalDpi xmlns:a14="http://schemas.microsoft.com/office/drawing/2010/main" val="0"/>
              </a:ext>
            </a:extLst>
          </a:blip>
          <a:stretch>
            <a:fillRect/>
          </a:stretch>
        </p:blipFill>
        <p:spPr>
          <a:xfrm>
            <a:off x="2645806" y="2971799"/>
            <a:ext cx="3983593" cy="3350823"/>
          </a:xfrm>
          <a:prstGeom prst="rect">
            <a:avLst/>
          </a:prstGeom>
        </p:spPr>
      </p:pic>
    </p:spTree>
    <p:extLst>
      <p:ext uri="{BB962C8B-B14F-4D97-AF65-F5344CB8AC3E}">
        <p14:creationId xmlns:p14="http://schemas.microsoft.com/office/powerpoint/2010/main" val="653681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882AF-3F85-D02B-B167-92BB06FA78F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51F8D081-5351-6A34-F61D-4BFC9E697C5D}"/>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5B86A6D7-44C7-3F2E-0E87-B0BE38F5E60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0CAD93E-47B3-5F1C-50C3-CCFC6FA0C347}"/>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D61A56A4-0FD7-4B40-8D6B-4C66C95E7C91}"/>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CA7F524B-FE9E-1FF8-1621-5EDB9B2A9EB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CFAF95C4-DE06-BB07-8BE1-1C14ACA3AC98}"/>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3AD385-1BD8-C19B-6526-BBB862770E82}"/>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B8DE39BD-B38D-F038-C3C2-37F3F226C77D}"/>
              </a:ext>
            </a:extLst>
          </p:cNvPr>
          <p:cNvSpPr txBox="1"/>
          <p:nvPr/>
        </p:nvSpPr>
        <p:spPr>
          <a:xfrm>
            <a:off x="990600" y="1184261"/>
            <a:ext cx="8763000" cy="1754326"/>
          </a:xfrm>
          <a:prstGeom prst="rect">
            <a:avLst/>
          </a:prstGeom>
          <a:noFill/>
        </p:spPr>
        <p:txBody>
          <a:bodyPr wrap="square">
            <a:spAutoFit/>
          </a:bodyPr>
          <a:lstStyle/>
          <a:p>
            <a:r>
              <a:rPr lang="en-IN" b="1" u="sng" dirty="0"/>
              <a:t>Admin Dashboard</a:t>
            </a:r>
            <a:r>
              <a:rPr lang="en-IN" sz="1800" b="1" u="sng" dirty="0"/>
              <a:t>:</a:t>
            </a:r>
            <a:endParaRPr lang="en-IN" sz="1800" dirty="0"/>
          </a:p>
          <a:p>
            <a:r>
              <a:rPr lang="en-IN" sz="1800" b="1" dirty="0"/>
              <a:t> </a:t>
            </a:r>
            <a:endParaRPr lang="en-IN" sz="1800" dirty="0"/>
          </a:p>
          <a:p>
            <a:r>
              <a:rPr lang="en-IN" sz="1800" dirty="0"/>
              <a:t>This allows the admin that could be the H.O.D, Deputy H.O.D or any assigned operator for that , then he/she can approve or reject the leave requests also seeing available requests, the history and the count of the approved and/or rejected leave requests.</a:t>
            </a:r>
          </a:p>
        </p:txBody>
      </p:sp>
      <p:pic>
        <p:nvPicPr>
          <p:cNvPr id="4" name="Image 7">
            <a:extLst>
              <a:ext uri="{FF2B5EF4-FFF2-40B4-BE49-F238E27FC236}">
                <a16:creationId xmlns:a16="http://schemas.microsoft.com/office/drawing/2014/main" id="{5289A509-7F92-8BBF-1B0B-B3F0C54C501B}"/>
              </a:ext>
            </a:extLst>
          </p:cNvPr>
          <p:cNvPicPr/>
          <p:nvPr/>
        </p:nvPicPr>
        <p:blipFill>
          <a:blip r:embed="rId7" cstate="print">
            <a:extLst>
              <a:ext uri="{28A0092B-C50C-407E-A947-70E740481C1C}">
                <a14:useLocalDpi xmlns:a14="http://schemas.microsoft.com/office/drawing/2010/main" val="0"/>
              </a:ext>
            </a:extLst>
          </a:blip>
          <a:stretch>
            <a:fillRect/>
          </a:stretch>
        </p:blipFill>
        <p:spPr>
          <a:xfrm>
            <a:off x="2286000" y="2777893"/>
            <a:ext cx="6324599" cy="4637009"/>
          </a:xfrm>
          <a:prstGeom prst="rect">
            <a:avLst/>
          </a:prstGeom>
        </p:spPr>
      </p:pic>
    </p:spTree>
    <p:extLst>
      <p:ext uri="{BB962C8B-B14F-4D97-AF65-F5344CB8AC3E}">
        <p14:creationId xmlns:p14="http://schemas.microsoft.com/office/powerpoint/2010/main" val="2972483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A61D0-099F-C774-0062-C8956AD10B14}"/>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C44C1A33-7C14-0DEB-3965-284AF49FCF96}"/>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5AD8913-F996-8CEC-7934-417EC50677A9}"/>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4C01121-5342-6ED4-E848-5F0A26A4F298}"/>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E76C04D3-36A1-A3D8-4753-54D754D0682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DEDA527A-944E-DD9F-9390-C3FE8A62152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1E0144C-CD6A-71E3-CB87-9E558AD5FF4A}"/>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63F76BCB-14FA-BBEA-1CDB-64C0E4637DB7}"/>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7E08911D-DB8D-864A-A56A-021103D1465A}"/>
              </a:ext>
            </a:extLst>
          </p:cNvPr>
          <p:cNvSpPr txBox="1"/>
          <p:nvPr/>
        </p:nvSpPr>
        <p:spPr>
          <a:xfrm>
            <a:off x="990600" y="1449777"/>
            <a:ext cx="8763000" cy="1200329"/>
          </a:xfrm>
          <a:prstGeom prst="rect">
            <a:avLst/>
          </a:prstGeom>
          <a:noFill/>
        </p:spPr>
        <p:txBody>
          <a:bodyPr wrap="square">
            <a:spAutoFit/>
          </a:bodyPr>
          <a:lstStyle/>
          <a:p>
            <a:r>
              <a:rPr lang="en-IN" b="1" u="sng" dirty="0"/>
              <a:t>Faculty Dashboard</a:t>
            </a:r>
            <a:r>
              <a:rPr lang="en-IN" sz="1800" b="1" u="sng" dirty="0"/>
              <a:t>:</a:t>
            </a:r>
            <a:endParaRPr lang="en-IN" sz="1800" dirty="0"/>
          </a:p>
          <a:p>
            <a:r>
              <a:rPr lang="en-IN" sz="1800" b="1" dirty="0"/>
              <a:t> </a:t>
            </a:r>
            <a:endParaRPr lang="en-IN" sz="1800" dirty="0"/>
          </a:p>
          <a:p>
            <a:pPr algn="just"/>
            <a:r>
              <a:rPr lang="en-IN" sz="1800" dirty="0"/>
              <a:t>This allows the faculty to make requests, see the status of their request and also to see the history of their requests..</a:t>
            </a:r>
          </a:p>
        </p:txBody>
      </p:sp>
      <p:pic>
        <p:nvPicPr>
          <p:cNvPr id="4" name="Image 9">
            <a:extLst>
              <a:ext uri="{FF2B5EF4-FFF2-40B4-BE49-F238E27FC236}">
                <a16:creationId xmlns:a16="http://schemas.microsoft.com/office/drawing/2014/main" id="{A637F141-3D80-2090-A750-9A170886609C}"/>
              </a:ext>
            </a:extLst>
          </p:cNvPr>
          <p:cNvPicPr/>
          <p:nvPr/>
        </p:nvPicPr>
        <p:blipFill>
          <a:blip r:embed="rId7" cstate="print">
            <a:extLst>
              <a:ext uri="{28A0092B-C50C-407E-A947-70E740481C1C}">
                <a14:useLocalDpi xmlns:a14="http://schemas.microsoft.com/office/drawing/2010/main" val="0"/>
              </a:ext>
            </a:extLst>
          </a:blip>
          <a:stretch>
            <a:fillRect/>
          </a:stretch>
        </p:blipFill>
        <p:spPr>
          <a:xfrm>
            <a:off x="1490923" y="2650106"/>
            <a:ext cx="6852048" cy="4247832"/>
          </a:xfrm>
          <a:prstGeom prst="rect">
            <a:avLst/>
          </a:prstGeom>
        </p:spPr>
      </p:pic>
    </p:spTree>
    <p:extLst>
      <p:ext uri="{BB962C8B-B14F-4D97-AF65-F5344CB8AC3E}">
        <p14:creationId xmlns:p14="http://schemas.microsoft.com/office/powerpoint/2010/main" val="359963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FAADD-4D19-CE1A-A0AE-6EEF35365F0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7B9191B-FE96-8A59-9690-2C061E758C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20D78732-F9B9-1FDA-D8E5-B64B1742716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F82D761-8FA6-96D2-9CDC-DFD4213896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678599C3-BD7C-742E-28E2-F7E1A4CB43D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9F6FA399-08A4-A0BD-F528-C5D21B7052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8F364F5D-D793-1E9D-BAE2-D5AEB2FAA6E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3FA4B9F1-F58E-6088-7BFB-C923676C0FFD}"/>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DFDFF7E8-2D7E-EE44-718C-EFE70C9A2E40}"/>
              </a:ext>
            </a:extLst>
          </p:cNvPr>
          <p:cNvSpPr txBox="1"/>
          <p:nvPr/>
        </p:nvSpPr>
        <p:spPr>
          <a:xfrm>
            <a:off x="1028700" y="1449777"/>
            <a:ext cx="8763000" cy="1200329"/>
          </a:xfrm>
          <a:prstGeom prst="rect">
            <a:avLst/>
          </a:prstGeom>
          <a:noFill/>
        </p:spPr>
        <p:txBody>
          <a:bodyPr wrap="square">
            <a:spAutoFit/>
          </a:bodyPr>
          <a:lstStyle/>
          <a:p>
            <a:r>
              <a:rPr lang="en-IN" b="1" u="sng" dirty="0"/>
              <a:t>Faculty Dashboard for Leave submission</a:t>
            </a:r>
            <a:r>
              <a:rPr lang="en-IN" sz="1800" b="1" u="sng" dirty="0"/>
              <a:t>:</a:t>
            </a:r>
            <a:endParaRPr lang="en-IN" sz="1800" dirty="0"/>
          </a:p>
          <a:p>
            <a:r>
              <a:rPr lang="en-IN" sz="1800" b="1" dirty="0"/>
              <a:t> </a:t>
            </a:r>
            <a:endParaRPr lang="en-IN" sz="1800" dirty="0"/>
          </a:p>
          <a:p>
            <a:pPr algn="just"/>
            <a:r>
              <a:rPr lang="en-IN" sz="1800" dirty="0"/>
              <a:t>After putting required details for the leave request, then they have to submit their request.</a:t>
            </a:r>
          </a:p>
        </p:txBody>
      </p:sp>
      <p:pic>
        <p:nvPicPr>
          <p:cNvPr id="4" name="Image 10">
            <a:extLst>
              <a:ext uri="{FF2B5EF4-FFF2-40B4-BE49-F238E27FC236}">
                <a16:creationId xmlns:a16="http://schemas.microsoft.com/office/drawing/2014/main" id="{21E718DE-45C3-98E5-1A94-DADD5A54AF72}"/>
              </a:ext>
            </a:extLst>
          </p:cNvPr>
          <p:cNvPicPr/>
          <p:nvPr/>
        </p:nvPicPr>
        <p:blipFill>
          <a:blip r:embed="rId7" cstate="print">
            <a:extLst>
              <a:ext uri="{28A0092B-C50C-407E-A947-70E740481C1C}">
                <a14:useLocalDpi xmlns:a14="http://schemas.microsoft.com/office/drawing/2010/main" val="0"/>
              </a:ext>
            </a:extLst>
          </a:blip>
          <a:stretch>
            <a:fillRect/>
          </a:stretch>
        </p:blipFill>
        <p:spPr>
          <a:xfrm>
            <a:off x="1676401" y="3124200"/>
            <a:ext cx="6629400" cy="4038600"/>
          </a:xfrm>
          <a:prstGeom prst="rect">
            <a:avLst/>
          </a:prstGeom>
        </p:spPr>
      </p:pic>
    </p:spTree>
    <p:extLst>
      <p:ext uri="{BB962C8B-B14F-4D97-AF65-F5344CB8AC3E}">
        <p14:creationId xmlns:p14="http://schemas.microsoft.com/office/powerpoint/2010/main" val="4049249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A739B-084F-9918-DC50-8CE38DC1C868}"/>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5A8C3F1-41E5-0186-E83F-5FC836EF90CA}"/>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18815DE2-EE20-B3D7-7EA4-72291F68045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5891ADB-70DA-70B3-1570-2113F485A15C}"/>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CBBB5074-8934-838D-9B17-F46613E79E7B}"/>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6CFF6B9B-1413-CACB-8626-8D4E8F46CF5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C015CC97-81B3-2537-15D2-42E0B7885ECA}"/>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E8586301-2F24-5042-AFC1-76411D8682F0}"/>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2D0F0836-F880-039A-C5DC-3FAB7C8143A3}"/>
              </a:ext>
            </a:extLst>
          </p:cNvPr>
          <p:cNvSpPr txBox="1"/>
          <p:nvPr/>
        </p:nvSpPr>
        <p:spPr>
          <a:xfrm>
            <a:off x="1028700" y="1449777"/>
            <a:ext cx="8763000" cy="1477328"/>
          </a:xfrm>
          <a:prstGeom prst="rect">
            <a:avLst/>
          </a:prstGeom>
          <a:noFill/>
        </p:spPr>
        <p:txBody>
          <a:bodyPr wrap="square">
            <a:spAutoFit/>
          </a:bodyPr>
          <a:lstStyle/>
          <a:p>
            <a:r>
              <a:rPr lang="en-IN" b="1" u="sng" dirty="0"/>
              <a:t>Faculty Dashboard for Leave Requests History:</a:t>
            </a:r>
            <a:endParaRPr lang="en-IN" sz="1800" dirty="0"/>
          </a:p>
          <a:p>
            <a:r>
              <a:rPr lang="en-IN" sz="1800" b="1" dirty="0"/>
              <a:t> </a:t>
            </a:r>
            <a:endParaRPr lang="en-IN" sz="1800" dirty="0"/>
          </a:p>
          <a:p>
            <a:pPr algn="just"/>
            <a:r>
              <a:rPr lang="en-IN" sz="1800" dirty="0"/>
              <a:t>This allows the faculty to see their history of the requests then also to see whether the leave request is approved or not so that they can take according actions </a:t>
            </a:r>
            <a:r>
              <a:rPr lang="en-IN" sz="1800" dirty="0" err="1"/>
              <a:t>eg</a:t>
            </a:r>
            <a:r>
              <a:rPr lang="en-IN" sz="1800" dirty="0"/>
              <a:t> reapplication or going for leave..</a:t>
            </a:r>
          </a:p>
        </p:txBody>
      </p:sp>
      <p:pic>
        <p:nvPicPr>
          <p:cNvPr id="2" name="Image 11">
            <a:extLst>
              <a:ext uri="{FF2B5EF4-FFF2-40B4-BE49-F238E27FC236}">
                <a16:creationId xmlns:a16="http://schemas.microsoft.com/office/drawing/2014/main" id="{8C0B812C-CF0B-4B7B-3E26-57656CB2FBAE}"/>
              </a:ext>
            </a:extLst>
          </p:cNvPr>
          <p:cNvPicPr/>
          <p:nvPr/>
        </p:nvPicPr>
        <p:blipFill>
          <a:blip r:embed="rId7" cstate="print">
            <a:extLst>
              <a:ext uri="{28A0092B-C50C-407E-A947-70E740481C1C}">
                <a14:useLocalDpi xmlns:a14="http://schemas.microsoft.com/office/drawing/2010/main" val="0"/>
              </a:ext>
            </a:extLst>
          </a:blip>
          <a:stretch>
            <a:fillRect/>
          </a:stretch>
        </p:blipFill>
        <p:spPr>
          <a:xfrm>
            <a:off x="1028700" y="3017474"/>
            <a:ext cx="8115300" cy="4291489"/>
          </a:xfrm>
          <a:prstGeom prst="rect">
            <a:avLst/>
          </a:prstGeom>
        </p:spPr>
      </p:pic>
    </p:spTree>
    <p:extLst>
      <p:ext uri="{BB962C8B-B14F-4D97-AF65-F5344CB8AC3E}">
        <p14:creationId xmlns:p14="http://schemas.microsoft.com/office/powerpoint/2010/main" val="1859882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7FDEE-B2C8-DBBC-E884-BDA34C1F5219}"/>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C8DF1F67-B651-B0D0-C9EE-30C0FEA14130}"/>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97015232-2E63-56AA-7577-8164A146878C}"/>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4442EC8A-2662-D501-ACD3-DCFEB9BAA526}"/>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330B076-712B-B685-23C7-45057C2229D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DA5B2706-9580-77BF-4719-EB9BFE3F577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929B2ADD-9F75-81A9-8FDC-AD13A2FC14F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2B96C818-ECB4-630B-674A-722C4674C3AB}"/>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7666C547-BD00-938B-5702-B991AD743375}"/>
              </a:ext>
            </a:extLst>
          </p:cNvPr>
          <p:cNvSpPr txBox="1"/>
          <p:nvPr/>
        </p:nvSpPr>
        <p:spPr>
          <a:xfrm>
            <a:off x="1028700" y="1449777"/>
            <a:ext cx="8763000" cy="923330"/>
          </a:xfrm>
          <a:prstGeom prst="rect">
            <a:avLst/>
          </a:prstGeom>
          <a:noFill/>
        </p:spPr>
        <p:txBody>
          <a:bodyPr wrap="square">
            <a:spAutoFit/>
          </a:bodyPr>
          <a:lstStyle/>
          <a:p>
            <a:r>
              <a:rPr lang="en-IN" b="1" u="sng" dirty="0"/>
              <a:t>Admin Review Interface:</a:t>
            </a:r>
            <a:endParaRPr lang="en-IN" sz="1800" dirty="0"/>
          </a:p>
          <a:p>
            <a:r>
              <a:rPr lang="en-IN" sz="1800" b="1" dirty="0"/>
              <a:t> </a:t>
            </a:r>
            <a:endParaRPr lang="en-IN" sz="1800" dirty="0"/>
          </a:p>
          <a:p>
            <a:pPr algn="just"/>
            <a:r>
              <a:rPr lang="en-IN" sz="1800" dirty="0"/>
              <a:t>This is for Admin to track the history of the requests made, approvals, rejects etc</a:t>
            </a:r>
          </a:p>
        </p:txBody>
      </p:sp>
      <p:pic>
        <p:nvPicPr>
          <p:cNvPr id="4" name="Image 12">
            <a:extLst>
              <a:ext uri="{FF2B5EF4-FFF2-40B4-BE49-F238E27FC236}">
                <a16:creationId xmlns:a16="http://schemas.microsoft.com/office/drawing/2014/main" id="{0A0B06E8-F833-28C3-B07C-454627D99805}"/>
              </a:ext>
            </a:extLst>
          </p:cNvPr>
          <p:cNvPicPr/>
          <p:nvPr/>
        </p:nvPicPr>
        <p:blipFill>
          <a:blip r:embed="rId7" cstate="print">
            <a:extLst>
              <a:ext uri="{28A0092B-C50C-407E-A947-70E740481C1C}">
                <a14:useLocalDpi xmlns:a14="http://schemas.microsoft.com/office/drawing/2010/main" val="0"/>
              </a:ext>
            </a:extLst>
          </a:blip>
          <a:stretch>
            <a:fillRect/>
          </a:stretch>
        </p:blipFill>
        <p:spPr>
          <a:xfrm>
            <a:off x="1600200" y="2736532"/>
            <a:ext cx="7315200" cy="4273868"/>
          </a:xfrm>
          <a:prstGeom prst="rect">
            <a:avLst/>
          </a:prstGeom>
        </p:spPr>
      </p:pic>
    </p:spTree>
    <p:extLst>
      <p:ext uri="{BB962C8B-B14F-4D97-AF65-F5344CB8AC3E}">
        <p14:creationId xmlns:p14="http://schemas.microsoft.com/office/powerpoint/2010/main" val="1228742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66B15-FBBA-88E4-439B-3760D86B920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E93131E-D2BB-EC5C-2A95-924FDF20D02E}"/>
              </a:ext>
            </a:extLst>
          </p:cNvPr>
          <p:cNvSpPr txBox="1"/>
          <p:nvPr/>
        </p:nvSpPr>
        <p:spPr>
          <a:xfrm>
            <a:off x="236330" y="596184"/>
            <a:ext cx="9448800" cy="7144969"/>
          </a:xfrm>
          <a:prstGeom prst="rect">
            <a:avLst/>
          </a:prstGeom>
          <a:noFill/>
        </p:spPr>
        <p:txBody>
          <a:bodyPr wrap="square" rtlCol="0">
            <a:spAutoFit/>
          </a:bodyPr>
          <a:lstStyle/>
          <a:p>
            <a:r>
              <a:rPr lang="en-US" sz="1800" dirty="0"/>
              <a:t>The </a:t>
            </a:r>
            <a:r>
              <a:rPr lang="en-US" sz="1800" b="1" dirty="0"/>
              <a:t>Faculty Leave Management System (FLMS)</a:t>
            </a:r>
            <a:r>
              <a:rPr lang="en-US" sz="1800" dirty="0"/>
              <a:t> developed in this project provides essential functionalities for managing faculty leave efficiently. However, the system can be further enhanced by adding advanced features to improve its performance, usability, and scalability.</a:t>
            </a:r>
          </a:p>
          <a:p>
            <a:pPr marL="285750" indent="-285750">
              <a:buFont typeface="Arial" panose="020B0604020202020204" pitchFamily="34" charset="0"/>
              <a:buChar char="•"/>
            </a:pPr>
            <a:r>
              <a:rPr lang="en-US" sz="1800" dirty="0"/>
              <a:t> </a:t>
            </a:r>
            <a:r>
              <a:rPr lang="en-US" sz="1800" b="1" dirty="0"/>
              <a:t>Mobile Application System :</a:t>
            </a:r>
            <a:r>
              <a:rPr lang="en-US" sz="1800" dirty="0"/>
              <a:t>Developing a mobile application to allow faculty and administrators to access the system anytime and anywhere.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 </a:t>
            </a:r>
            <a:r>
              <a:rPr lang="en-US" sz="1800" b="1" dirty="0"/>
              <a:t>Advanced Security Features : </a:t>
            </a:r>
            <a:r>
              <a:rPr lang="en-US" sz="1800" dirty="0"/>
              <a:t>Implementing features like two-factor authentication (2FA), data encryption, and secure role-based access for enhanced data protection.</a:t>
            </a:r>
          </a:p>
          <a:p>
            <a:r>
              <a:rPr lang="en-US" sz="1800" dirty="0"/>
              <a:t> </a:t>
            </a:r>
          </a:p>
          <a:p>
            <a:pPr marL="285750" indent="-285750">
              <a:buFont typeface="Arial" panose="020B0604020202020204" pitchFamily="34" charset="0"/>
              <a:buChar char="•"/>
            </a:pPr>
            <a:r>
              <a:rPr lang="en-US" sz="1800" b="1" dirty="0"/>
              <a:t>AI-Based Features: </a:t>
            </a:r>
            <a:r>
              <a:rPr lang="en-US" sz="1800" dirty="0"/>
              <a:t>Integrating AI to provide leave approval suggestions, detect unusual leave patterns, and automate decision-making support.</a:t>
            </a:r>
          </a:p>
          <a:p>
            <a:r>
              <a:rPr lang="en-US" sz="1800" dirty="0"/>
              <a:t> </a:t>
            </a:r>
          </a:p>
          <a:p>
            <a:pPr marL="285750" indent="-285750">
              <a:buFont typeface="Arial" panose="020B0604020202020204" pitchFamily="34" charset="0"/>
              <a:buChar char="•"/>
            </a:pPr>
            <a:r>
              <a:rPr lang="en-US" sz="1800" b="1" dirty="0"/>
              <a:t>Attendance Integration:</a:t>
            </a:r>
            <a:r>
              <a:rPr lang="en-US" b="1" dirty="0"/>
              <a:t> </a:t>
            </a:r>
            <a:r>
              <a:rPr lang="en-US" sz="1800" dirty="0"/>
              <a:t>Linking the system with attendance management to automatically update leave records and track faculty availability.</a:t>
            </a:r>
          </a:p>
          <a:p>
            <a:r>
              <a:rPr lang="en-US" sz="1800" dirty="0"/>
              <a:t> </a:t>
            </a:r>
          </a:p>
          <a:p>
            <a:pPr marL="285750" indent="-285750">
              <a:buFont typeface="Arial" panose="020B0604020202020204" pitchFamily="34" charset="0"/>
              <a:buChar char="•"/>
            </a:pPr>
            <a:r>
              <a:rPr lang="en-US" sz="1800" b="1" dirty="0"/>
              <a:t>Automated Notifications : </a:t>
            </a:r>
            <a:r>
              <a:rPr lang="en-US" sz="1800" dirty="0"/>
              <a:t>Sending email/SMS notifications for leave application status, reminders, and approvals.</a:t>
            </a:r>
          </a:p>
          <a:p>
            <a:r>
              <a:rPr lang="en-US" sz="1800" dirty="0"/>
              <a:t> </a:t>
            </a:r>
          </a:p>
          <a:p>
            <a:pPr marL="285750" indent="-285750">
              <a:buFont typeface="Arial" panose="020B0604020202020204" pitchFamily="34" charset="0"/>
              <a:buChar char="•"/>
            </a:pPr>
            <a:r>
              <a:rPr lang="en-US" sz="1800" b="1" dirty="0"/>
              <a:t>Report Generation and Analytics : </a:t>
            </a:r>
            <a:r>
              <a:rPr lang="en-US" sz="1800" dirty="0"/>
              <a:t>Generating detailed reports on leave usage, trends, and department-wise statistics for better decision-making.</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 </a:t>
            </a:r>
            <a:r>
              <a:rPr lang="en-US" sz="1800" b="1" dirty="0"/>
              <a:t>Improved User Interface : </a:t>
            </a:r>
            <a:r>
              <a:rPr lang="en-US" sz="1800" dirty="0"/>
              <a:t>Enhancing the system design to provide a more interactive and user-friendly experience</a:t>
            </a:r>
          </a:p>
          <a:p>
            <a:pPr algn="just">
              <a:lnSpc>
                <a:spcPct val="150000"/>
              </a:lnSpc>
            </a:pPr>
            <a:endParaRPr lang="en-IN" sz="2000" dirty="0"/>
          </a:p>
        </p:txBody>
      </p:sp>
      <p:grpSp>
        <p:nvGrpSpPr>
          <p:cNvPr id="7" name="object 3">
            <a:extLst>
              <a:ext uri="{FF2B5EF4-FFF2-40B4-BE49-F238E27FC236}">
                <a16:creationId xmlns:a16="http://schemas.microsoft.com/office/drawing/2014/main" id="{2AA4C980-B3A7-207C-41C1-E5E20AC1774F}"/>
              </a:ext>
            </a:extLst>
          </p:cNvPr>
          <p:cNvGrpSpPr/>
          <p:nvPr/>
        </p:nvGrpSpPr>
        <p:grpSpPr>
          <a:xfrm>
            <a:off x="2487359" y="-249412"/>
            <a:ext cx="5103904" cy="1198311"/>
            <a:chOff x="2648188" y="47148"/>
            <a:chExt cx="5103904" cy="1198311"/>
          </a:xfrm>
        </p:grpSpPr>
        <p:pic>
          <p:nvPicPr>
            <p:cNvPr id="8" name="object 4">
              <a:extLst>
                <a:ext uri="{FF2B5EF4-FFF2-40B4-BE49-F238E27FC236}">
                  <a16:creationId xmlns:a16="http://schemas.microsoft.com/office/drawing/2014/main" id="{FCE0C84F-6254-D24F-D561-30DE987BE354}"/>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7909B96B-5C39-8043-CA2D-5B828EFA7574}"/>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5015D36-BC2F-3B81-753E-F473E84B785D}"/>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2E63626-00F9-C9BD-F925-C51513AE50E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D4D54D4E-EE1A-E311-1FB3-DF54075DFCDF}"/>
              </a:ext>
            </a:extLst>
          </p:cNvPr>
          <p:cNvSpPr txBox="1">
            <a:spLocks noGrp="1"/>
          </p:cNvSpPr>
          <p:nvPr>
            <p:ph type="title"/>
          </p:nvPr>
        </p:nvSpPr>
        <p:spPr>
          <a:xfrm>
            <a:off x="3594130" y="0"/>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Future Enhancements</a:t>
            </a:r>
          </a:p>
        </p:txBody>
      </p:sp>
      <p:pic>
        <p:nvPicPr>
          <p:cNvPr id="13" name="object 3">
            <a:extLst>
              <a:ext uri="{FF2B5EF4-FFF2-40B4-BE49-F238E27FC236}">
                <a16:creationId xmlns:a16="http://schemas.microsoft.com/office/drawing/2014/main" id="{A2987431-337A-DB3D-5560-70B732DBEDE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218789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2E41-7E6E-9AB7-4311-D58503EE45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5376381-AD7A-228D-6305-1256490B7F5E}"/>
              </a:ext>
            </a:extLst>
          </p:cNvPr>
          <p:cNvSpPr txBox="1"/>
          <p:nvPr/>
        </p:nvSpPr>
        <p:spPr>
          <a:xfrm>
            <a:off x="304800" y="1034052"/>
            <a:ext cx="9448800" cy="6590971"/>
          </a:xfrm>
          <a:prstGeom prst="rect">
            <a:avLst/>
          </a:prstGeom>
          <a:noFill/>
        </p:spPr>
        <p:txBody>
          <a:bodyPr wrap="square" rtlCol="0">
            <a:spAutoFit/>
          </a:bodyPr>
          <a:lstStyle/>
          <a:p>
            <a:r>
              <a:rPr lang="en-IN" sz="1800" dirty="0"/>
              <a:t>The following references were used during the development of the Faculty Leave Management System.</a:t>
            </a:r>
          </a:p>
          <a:p>
            <a:pPr marL="285750" lvl="0" indent="-285750">
              <a:buFont typeface="Arial" panose="020B0604020202020204" pitchFamily="34" charset="0"/>
              <a:buChar char="•"/>
            </a:pPr>
            <a:r>
              <a:rPr lang="en-IN" sz="1800" b="1" dirty="0"/>
              <a:t>MongoDB Documentation</a:t>
            </a:r>
            <a:r>
              <a:rPr lang="en-IN" sz="1800" dirty="0"/>
              <a:t>: </a:t>
            </a:r>
            <a:r>
              <a:rPr lang="en-IN" sz="1800" u="sng" dirty="0">
                <a:hlinkClick r:id="rId2"/>
              </a:rPr>
              <a:t>https://www.mongodb.com/docs/</a:t>
            </a:r>
            <a:endParaRPr lang="en-IN" sz="1800" u="sng" dirty="0"/>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React Documentation</a:t>
            </a:r>
            <a:r>
              <a:rPr lang="en-IN" sz="1800" dirty="0"/>
              <a:t>: </a:t>
            </a:r>
            <a:r>
              <a:rPr lang="en-IN" sz="1800" u="sng" dirty="0">
                <a:hlinkClick r:id="rId3"/>
              </a:rPr>
              <a:t>https://react.dev/</a:t>
            </a:r>
            <a:endParaRPr lang="en-IN" sz="1800" u="sng" dirty="0"/>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Node.js Documentation </a:t>
            </a:r>
            <a:r>
              <a:rPr lang="en-IN" sz="1800" dirty="0"/>
              <a:t>: </a:t>
            </a:r>
            <a:r>
              <a:rPr lang="en-IN" sz="1800" u="sng" dirty="0">
                <a:hlinkClick r:id="rId4"/>
              </a:rPr>
              <a:t>https://nodejs.org/en/docs/</a:t>
            </a:r>
            <a:endParaRPr lang="en-IN" sz="1800" u="sng" dirty="0"/>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Express.js Documentation</a:t>
            </a:r>
            <a:r>
              <a:rPr lang="en-IN" sz="1800" dirty="0"/>
              <a:t>: </a:t>
            </a:r>
            <a:r>
              <a:rPr lang="en-IN" sz="1800" u="sng" dirty="0">
                <a:hlinkClick r:id="rId5"/>
              </a:rPr>
              <a:t>https://expressjs.com/</a:t>
            </a:r>
            <a:endParaRPr lang="en-IN" sz="1800" u="sng" dirty="0"/>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Socket.IO Documentation</a:t>
            </a:r>
            <a:r>
              <a:rPr lang="en-IN" b="1" dirty="0"/>
              <a:t>: </a:t>
            </a:r>
            <a:r>
              <a:rPr lang="en-IN" sz="1800" u="sng" dirty="0">
                <a:hlinkClick r:id="rId6"/>
              </a:rPr>
              <a:t>https://socket.io/docs/</a:t>
            </a:r>
            <a:endParaRPr lang="en-IN" sz="1800" u="sng" dirty="0"/>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WebRTC Documentation (MDN)</a:t>
            </a:r>
            <a:r>
              <a:rPr lang="en-IN" b="1" dirty="0"/>
              <a:t>: </a:t>
            </a:r>
            <a:r>
              <a:rPr lang="en-IN" sz="1800" u="sng" dirty="0">
                <a:hlinkClick r:id="rId7"/>
              </a:rPr>
              <a:t>https://developer.mozilla.org/en-US/docs/Web/API/WebRTC_API</a:t>
            </a:r>
            <a:endParaRPr lang="en-IN" sz="1800" u="sng" dirty="0"/>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Stripe Documentation</a:t>
            </a:r>
            <a:r>
              <a:rPr lang="en-IN" b="1" dirty="0"/>
              <a:t>:</a:t>
            </a:r>
            <a:r>
              <a:rPr lang="en-IN" sz="1800" dirty="0"/>
              <a:t> </a:t>
            </a:r>
            <a:r>
              <a:rPr lang="en-IN" sz="1800" u="sng" dirty="0">
                <a:hlinkClick r:id="rId8"/>
              </a:rPr>
              <a:t>https://stripe.com/docs/</a:t>
            </a:r>
            <a:endParaRPr lang="en-IN" sz="1800" u="sng" dirty="0"/>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err="1"/>
              <a:t>Razorpay</a:t>
            </a:r>
            <a:r>
              <a:rPr lang="en-IN" sz="1800" b="1" dirty="0"/>
              <a:t> Documentation</a:t>
            </a:r>
            <a:r>
              <a:rPr lang="en-IN" b="1" dirty="0"/>
              <a:t>: </a:t>
            </a:r>
            <a:r>
              <a:rPr lang="en-IN" sz="1800" dirty="0"/>
              <a:t> </a:t>
            </a:r>
            <a:r>
              <a:rPr lang="en-IN" sz="1800" u="sng" dirty="0">
                <a:hlinkClick r:id="rId9"/>
              </a:rPr>
              <a:t>https://razorpay.com/docs/</a:t>
            </a:r>
            <a:endParaRPr lang="en-IN" sz="1800" u="sng" dirty="0"/>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JavaScript Tutorial – W3Schools: </a:t>
            </a:r>
            <a:r>
              <a:rPr lang="en-IN" sz="1800" dirty="0"/>
              <a:t> </a:t>
            </a:r>
            <a:r>
              <a:rPr lang="en-IN" sz="1800" u="sng" dirty="0">
                <a:hlinkClick r:id="rId10"/>
              </a:rPr>
              <a:t>https://www.w3schools.com/js/</a:t>
            </a:r>
            <a:endParaRPr lang="en-IN" sz="1800" u="sng" dirty="0"/>
          </a:p>
          <a:p>
            <a:pPr marL="285750" lvl="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MERN Stack Guide : </a:t>
            </a:r>
            <a:r>
              <a:rPr lang="en-IN" sz="1800" dirty="0"/>
              <a:t> </a:t>
            </a:r>
            <a:r>
              <a:rPr lang="en-IN" sz="1800" dirty="0" err="1"/>
              <a:t>GeeksforGeeks</a:t>
            </a:r>
            <a:endParaRPr lang="en-IN" sz="1800" dirty="0"/>
          </a:p>
          <a:p>
            <a:pPr algn="just">
              <a:lnSpc>
                <a:spcPct val="150000"/>
              </a:lnSpc>
            </a:pPr>
            <a:endParaRPr lang="en-IN" sz="2000" dirty="0"/>
          </a:p>
        </p:txBody>
      </p:sp>
      <p:grpSp>
        <p:nvGrpSpPr>
          <p:cNvPr id="7" name="object 3">
            <a:extLst>
              <a:ext uri="{FF2B5EF4-FFF2-40B4-BE49-F238E27FC236}">
                <a16:creationId xmlns:a16="http://schemas.microsoft.com/office/drawing/2014/main" id="{32D71BC4-812B-11BE-6A6C-1CA5A91B779D}"/>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6897A887-118D-142E-FC3E-D6BE5C1E9795}"/>
                </a:ext>
              </a:extLst>
            </p:cNvPr>
            <p:cNvPicPr/>
            <p:nvPr/>
          </p:nvPicPr>
          <p:blipFill>
            <a:blip r:embed="rId11"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69A73B6-BAAC-6763-2263-E88C0E65C7C3}"/>
                </a:ext>
              </a:extLst>
            </p:cNvPr>
            <p:cNvPicPr/>
            <p:nvPr/>
          </p:nvPicPr>
          <p:blipFill>
            <a:blip r:embed="rId12"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B12E086F-BA20-7EBA-DFAA-D7884D2F86C0}"/>
                </a:ext>
              </a:extLst>
            </p:cNvPr>
            <p:cNvPicPr/>
            <p:nvPr/>
          </p:nvPicPr>
          <p:blipFill>
            <a:blip r:embed="rId13"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CD22B9F6-01CA-54BB-97B5-0180CEF24C6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E459A9DA-9776-0281-AD94-A452E7257896}"/>
              </a:ext>
            </a:extLst>
          </p:cNvPr>
          <p:cNvSpPr txBox="1">
            <a:spLocks noGrp="1"/>
          </p:cNvSpPr>
          <p:nvPr>
            <p:ph type="title"/>
          </p:nvPr>
        </p:nvSpPr>
        <p:spPr>
          <a:xfrm>
            <a:off x="4194015" y="429568"/>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References</a:t>
            </a:r>
          </a:p>
        </p:txBody>
      </p:sp>
      <p:pic>
        <p:nvPicPr>
          <p:cNvPr id="13" name="object 3">
            <a:extLst>
              <a:ext uri="{FF2B5EF4-FFF2-40B4-BE49-F238E27FC236}">
                <a16:creationId xmlns:a16="http://schemas.microsoft.com/office/drawing/2014/main" id="{6E0266AA-A7A6-E24C-77B4-437EA2766279}"/>
              </a:ext>
            </a:extLst>
          </p:cNvPr>
          <p:cNvPicPr/>
          <p:nvPr/>
        </p:nvPicPr>
        <p:blipFill>
          <a:blip r:embed="rId14"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182020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381000" y="1052606"/>
            <a:ext cx="9448800" cy="6867970"/>
          </a:xfrm>
          <a:prstGeom prst="rect">
            <a:avLst/>
          </a:prstGeom>
          <a:noFill/>
        </p:spPr>
        <p:txBody>
          <a:bodyPr wrap="square" rtlCol="0">
            <a:spAutoFit/>
          </a:bodyPr>
          <a:lstStyle/>
          <a:p>
            <a:pPr marL="285750" indent="-285750">
              <a:buFont typeface="Arial" panose="020B0604020202020204" pitchFamily="34" charset="0"/>
              <a:buChar char="•"/>
            </a:pPr>
            <a:r>
              <a:rPr lang="en-US" sz="1800" dirty="0"/>
              <a:t>The </a:t>
            </a:r>
            <a:r>
              <a:rPr lang="en-US" sz="1800" b="1" dirty="0"/>
              <a:t>Faculty Leave Management System (FLMS)</a:t>
            </a:r>
            <a:r>
              <a:rPr lang="en-US" sz="1800" dirty="0"/>
              <a:t> has been successfully developed to provide a modern and efficient solution for managing faculty leave processes in educational institutions.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The system replaces traditional manual methods with an integrated digital platform, thereby improving efficiency, reducing delays in approval, and enhancing transparency.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The application provides essential functionalities such as user registration and login, leave application submission, approval and rejection of requests, and leave history tracking through a user-friendly web interface. By using technologies like the </a:t>
            </a:r>
            <a:r>
              <a:rPr lang="en-US" sz="1800" b="1" dirty="0"/>
              <a:t>MERN stack</a:t>
            </a:r>
            <a:r>
              <a:rPr lang="en-US" sz="1800" dirty="0"/>
              <a:t> and </a:t>
            </a:r>
            <a:r>
              <a:rPr lang="en-US" sz="1800" b="1" dirty="0"/>
              <a:t>JWT authentication</a:t>
            </a:r>
            <a:r>
              <a:rPr lang="en-US" sz="1800" dirty="0"/>
              <a:t>, the system ensures efficient performance, secure data handling, and reliable access control.</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Overall, the system improves the efficiency of leave management by automating the entire process and maintaining accurate records in a centralized database. It also provides a scalable solution that can be further enhanced in the future by integrating features such as attendance management, notification systems, mobile application support, and advanced reporting tools.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In conclusion, the Faculty Leave Management System meets the project objectives and serves as an effective platform for managing faculty leave requests, improving administrative workflow, and ensuring smooth institutional operations.  </a:t>
            </a:r>
            <a:br>
              <a:rPr lang="en-US" sz="1800" dirty="0"/>
            </a:br>
            <a:endParaRPr lang="en-US" sz="1800" dirty="0"/>
          </a:p>
          <a:p>
            <a:pPr marL="342900" indent="-342900" algn="just">
              <a:lnSpc>
                <a:spcPct val="150000"/>
              </a:lnSpc>
              <a:buFont typeface="Arial" panose="020B0604020202020204" pitchFamily="34" charset="0"/>
              <a:buChar char="•"/>
            </a:pPr>
            <a:endParaRPr lang="en-US" sz="2000" dirty="0"/>
          </a:p>
        </p:txBody>
      </p:sp>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694192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2720</TotalTime>
  <Words>2126</Words>
  <Application>Microsoft Office PowerPoint</Application>
  <PresentationFormat>Custom</PresentationFormat>
  <Paragraphs>282</Paragraphs>
  <Slides>21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Cambria</vt:lpstr>
      <vt:lpstr>Palatino Linotype</vt:lpstr>
      <vt:lpstr>Times New Roman</vt:lpstr>
      <vt:lpstr>Office Theme</vt:lpstr>
      <vt:lpstr>AMSD Cornerstone Project Final Review</vt:lpstr>
      <vt:lpstr>PowerPoint Presentation</vt:lpstr>
      <vt:lpstr>ABSTRACT</vt:lpstr>
      <vt:lpstr>PowerPoint Presentation</vt:lpstr>
      <vt:lpstr>PowerPoint Presentation</vt:lpstr>
      <vt:lpstr>PowerPoint Presentation</vt:lpstr>
      <vt:lpstr>Database Design</vt:lpstr>
      <vt:lpstr>Database Design</vt:lpstr>
      <vt:lpstr>Database Design</vt:lpstr>
      <vt:lpstr>SYSTEM DESIGN</vt:lpstr>
      <vt:lpstr>System Implementation</vt:lpstr>
      <vt:lpstr>System Implementation</vt:lpstr>
      <vt:lpstr>System Implementation</vt:lpstr>
      <vt:lpstr>System Implementation</vt:lpstr>
      <vt:lpstr>System Implementation</vt:lpstr>
      <vt:lpstr>System Implementation</vt:lpstr>
      <vt:lpstr>System Implementation</vt:lpstr>
      <vt:lpstr>Future Enhancements</vt:lpstr>
      <vt:lpstr>References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darlington chinokwetu</cp:lastModifiedBy>
  <cp:revision>51</cp:revision>
  <cp:lastPrinted>2025-10-14T18:21:49Z</cp:lastPrinted>
  <dcterms:created xsi:type="dcterms:W3CDTF">2025-10-10T08:28:06Z</dcterms:created>
  <dcterms:modified xsi:type="dcterms:W3CDTF">2026-04-06T20:46:59Z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